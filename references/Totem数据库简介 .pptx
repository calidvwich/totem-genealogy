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3"/>
  </p:notesMasterIdLst>
  <p:sldIdLst>
    <p:sldId id="258" r:id="rId3"/>
    <p:sldId id="260" r:id="rId4"/>
    <p:sldId id="263" r:id="rId5"/>
    <p:sldId id="264" r:id="rId6"/>
    <p:sldId id="269" r:id="rId7"/>
    <p:sldId id="265" r:id="rId8"/>
    <p:sldId id="270" r:id="rId9"/>
    <p:sldId id="266" r:id="rId10"/>
    <p:sldId id="267" r:id="rId11"/>
    <p:sldId id="268"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49" autoAdjust="0"/>
    <p:restoredTop sz="94660"/>
  </p:normalViewPr>
  <p:slideViewPr>
    <p:cSldViewPr snapToGrid="0">
      <p:cViewPr varScale="1">
        <p:scale>
          <a:sx n="83" d="100"/>
          <a:sy n="83" d="100"/>
        </p:scale>
        <p:origin x="629" y="6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13.05.2026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让我们来认识一下Totem。它是由武汉大学自主研发的，其核心是创新的对象代理模型。Totem的目标是超越传统数据库的局限，它巧妙地结合了关系数据库的灵活性和面向对象数据库的强大语义表达能力，为我们提供了一种全新的数据管理思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实现强大的数据重组能力，Totem提供了四种核心的代理类型。它们分别是Select、Join、Union和Group代理，这四种代理直接对应了关系代数中的核心操作。这意味着，我们可以像写SQL一样灵活地创建各种数据视图，但这些视图是动态的、无冗余的，并且可以被当作普通对象来操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在语法层面，Totem也展现了高度的兼容性。绝大部分标准SQL语法都可以直接使用。最主要的区别在于创建结构时，我们使用 CREATE CLASS 代替了 CREATE TABLE。而像 INSERT, UPDATE, SELECT 这些核心的数据操作，语法完全一样。这意味着你的现有SQL知识可以无缝迁移。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接下来我们将进入本次实验的核心部分：利用Totem数据库构建族谱应用。首先，让我们回顾一下任务一，也就是使用传统关系数据库的情况。我们知道，要实现族谱，通常需要使用自引用外键和复杂的递归查询，这不仅写起来麻烦，而且当关系变得复杂时，性能和可读性都会下降。因此，我们任务二的目标就是探索Totem对象代理模型的优势。我们的核心思想是，不再用死板的自关联表，而是用灵活的代理类来描述“人”、“父子关系”等概念。我们期望通过这个实验，能够验证代理模型在处理层级数据时的优越性，并最终拿出一套完整的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56800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可能会问，为什么我们要选择Totem来构建族谱系统？这里我总结了四个核心优势。首先，族谱关系非常复杂，用传统数据库实现起来很繁琐，而Totem的代理模型可以直观地表达这些关系。其次，我们经常需要动态生成各种视图和角色，比如某个人的祖先树，Totem可以轻松做到这一点。第三，使用Totem能大大简化开发，我们不需要写复杂的SQL，代码会更清晰。最后，在性能和扩展性方面，代理模型也展现出了明显的优势。总而言之，Totem为我们提供了一种更优雅、更强大的方式来解决族谱这类复杂数据建模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9568843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Noto Sans SC"/>
                <a:ea typeface="Noto Sans SC"/>
                <a:cs typeface="Noto Sans SC"/>
                <a:sym typeface="Noto Sans SC"/>
              </a:rPr>
              <a:t>为了实现族谱的建模，我们提出了一系列代理类的设计建议。首先是“成员基本类”，它负责存储每个人的基本信息。然后，我们用“父子关系代理类”来直观地表示父母和子女的关系。对于婚姻关系，我们创建“配偶关系代理类”。更进一步，我们可以利用代理的强大能力，创建“祖先视图代理类”，它能动态生成任何一个人的祖先链。同时，“世代代理类”可以帮助我们统计每一代人的数量。最后，我们还可以创建像“父亲代理类”这样的角色代理，让查询更加便捷。这些代理类共同构成了一个灵活、强大的族谱数据模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2983480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这一页我们来详细看看，如何利用代理类来简化那些复杂的查询。核心思想很简单，就是把复杂的关系提前建模成代理类。</a:t>
            </a:r>
          </a:p>
          <a:p>
            <a:pPr indent="0" algn="l">
              <a:lnSpc>
                <a:spcPct val="100000"/>
              </a:lnSpc>
            </a:pPr>
            <a:r>
              <a:rPr lang="en-US" sz="1400" b="0" i="0" u="none" strike="noStrike">
                <a:solidFill>
                  <a:srgbClr val="000000"/>
                </a:solidFill>
              </a:rPr>
              <a:t>比如，如果我们建立了一个“夫妻代理类”，那么查询配偶就不再需要写复杂的自连接SQL。同样，如果建立了“父子关系代理类”，查询子女、祖先、后代都会变得非常简单，再也不用写那些头疼的递归查询了。</a:t>
            </a:r>
          </a:p>
          <a:p>
            <a:pPr indent="0" algn="l">
              <a:lnSpc>
                <a:spcPct val="100000"/>
              </a:lnSpc>
            </a:pPr>
            <a:r>
              <a:rPr lang="en-US" sz="1400" b="0" i="0" u="none" strike="noStrike">
                <a:solidFill>
                  <a:srgbClr val="000000"/>
                </a:solidFill>
              </a:rPr>
              <a:t>对于统计任务，比如“世代统计代理类”，结果已经预计算好了，我们直接拿来用就行。通过这种方式，我们把复杂的SQL逻辑转化为了简单的代理类调用，开发效率大大提升。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60356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有了强大的数据库模型，我们还需要一个友好的界面来展示它。我们的前端应用会直接调用Totem的API，将数据以可视化的方式呈现给用户。界面上会有几个核心功能：首先是动态生成的族谱树形图，让家族结构一目了然。其次是亲缘路径查询功能，你可以轻松找到任意两个人之间的关系。最后，还有各种统计图表，帮助你分析家族的人口结构。最关键的是，用户完全不需要接触复杂的SQL，就能享受到这一切，这完美体现了从数据库能力到用户界面的完整应用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129876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来看一下最终的应用界面和验收标准。我们的应用主要包含四大功能模块：成员管理、关系展示、亲缘路径查询和统计分析。在提交成果时，大家需要准备实验报告、源代码以及演示视频或截图，这和任务一的要求是一样的。我们的验收将重点关注功能是否完整、模型设计是否合理、代码质量如何，以及最重要的——是否体现了代理模型在处理层级数据时的创新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962899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让我们来总结一下本次学习的收获。首先，我们成功掌握了Totem这款新型数据库的使用。更重要的是，我们深刻理解了代理类和传统数据表在设计思想上的根本不同。通过亲手实践，我们体会到了代理模型在处理层级、角色和视图等复杂场景时的巨大优势。这次实验不仅是一次技术练习，更让我们看到了一种全新的数据建模思路，它在未来的复杂应用中有着巨大的潜力。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905104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jpe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3.png"/><Relationship Id="rId10" Type="http://schemas.openxmlformats.org/officeDocument/2006/relationships/image" Target="../media/image9.svg"/><Relationship Id="rId4" Type="http://schemas.openxmlformats.org/officeDocument/2006/relationships/image" Target="../media/image2.jpeg"/><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jpeg"/><Relationship Id="rId7" Type="http://schemas.openxmlformats.org/officeDocument/2006/relationships/image" Target="../media/image11.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7.png"/><Relationship Id="rId11" Type="http://schemas.openxmlformats.org/officeDocument/2006/relationships/image" Target="../media/image19.svg"/><Relationship Id="rId5" Type="http://schemas.openxmlformats.org/officeDocument/2006/relationships/image" Target="../media/image15.svg"/><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image" Target="../media/image17.svg"/></Relationships>
</file>

<file path=ppt/slides/_rels/slide3.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1.jpe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1.jpeg"/><Relationship Id="rId5" Type="http://schemas.openxmlformats.org/officeDocument/2006/relationships/image" Target="../media/image26.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3.png"/><Relationship Id="rId7" Type="http://schemas.openxmlformats.org/officeDocument/2006/relationships/image" Target="../media/image50.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4.png"/><Relationship Id="rId11" Type="http://schemas.openxmlformats.org/officeDocument/2006/relationships/image" Target="../media/image90.svg"/><Relationship Id="rId5" Type="http://schemas.openxmlformats.org/officeDocument/2006/relationships/image" Target="../media/image3.svg"/><Relationship Id="rId10" Type="http://schemas.openxmlformats.org/officeDocument/2006/relationships/image" Target="../media/image16.png"/><Relationship Id="rId9" Type="http://schemas.openxmlformats.org/officeDocument/2006/relationships/image" Target="../media/image70.svg"/></Relationships>
</file>

<file path=ppt/slides/_rels/slide5.xml.rels><?xml version="1.0" encoding="UTF-8" standalone="yes"?>
<Relationships xmlns="http://schemas.openxmlformats.org/package/2006/relationships"><Relationship Id="rId8" Type="http://schemas.openxmlformats.org/officeDocument/2006/relationships/image" Target="../media/image71.svg"/><Relationship Id="rId3" Type="http://schemas.openxmlformats.org/officeDocument/2006/relationships/image" Target="../media/image7.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51.svg"/><Relationship Id="rId11" Type="http://schemas.openxmlformats.org/officeDocument/2006/relationships/image" Target="../media/image20.png"/><Relationship Id="rId5" Type="http://schemas.openxmlformats.org/officeDocument/2006/relationships/image" Target="../media/image17.png"/><Relationship Id="rId10" Type="http://schemas.openxmlformats.org/officeDocument/2006/relationships/image" Target="../media/image91.svg"/><Relationship Id="rId4" Type="http://schemas.openxmlformats.org/officeDocument/2006/relationships/image" Target="../media/image30.sv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1.png"/><Relationship Id="rId7" Type="http://schemas.openxmlformats.org/officeDocument/2006/relationships/image" Target="../media/image13.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2.png"/><Relationship Id="rId11" Type="http://schemas.openxmlformats.org/officeDocument/2006/relationships/image" Target="../media/image170.svg"/><Relationship Id="rId5" Type="http://schemas.openxmlformats.org/officeDocument/2006/relationships/image" Target="../media/image110.svg"/><Relationship Id="rId10" Type="http://schemas.openxmlformats.org/officeDocument/2006/relationships/image" Target="../media/image24.png"/><Relationship Id="rId9" Type="http://schemas.openxmlformats.org/officeDocument/2006/relationships/image" Target="../media/image150.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5.png"/><Relationship Id="rId7" Type="http://schemas.openxmlformats.org/officeDocument/2006/relationships/image" Target="../media/image21.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190.svg"/><Relationship Id="rId9" Type="http://schemas.openxmlformats.org/officeDocument/2006/relationships/image" Target="../media/image23.sv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8.png"/><Relationship Id="rId7" Type="http://schemas.openxmlformats.org/officeDocument/2006/relationships/image" Target="../media/image27.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9.png"/><Relationship Id="rId11" Type="http://schemas.openxmlformats.org/officeDocument/2006/relationships/image" Target="../media/image31.svg"/><Relationship Id="rId5" Type="http://schemas.openxmlformats.org/officeDocument/2006/relationships/image" Target="../media/image25.svg"/><Relationship Id="rId10" Type="http://schemas.openxmlformats.org/officeDocument/2006/relationships/image" Target="../media/image31.png"/><Relationship Id="rId9" Type="http://schemas.openxmlformats.org/officeDocument/2006/relationships/image" Target="../media/image290.svg"/></Relationships>
</file>

<file path=ppt/slides/_rels/slide1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2.png"/><Relationship Id="rId7" Type="http://schemas.openxmlformats.org/officeDocument/2006/relationships/image" Target="../media/image35.svg"/><Relationship Id="rId12"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7.png"/><Relationship Id="rId11" Type="http://schemas.openxmlformats.org/officeDocument/2006/relationships/image" Target="../media/image39.svg"/><Relationship Id="rId5" Type="http://schemas.openxmlformats.org/officeDocument/2006/relationships/image" Target="../media/image33.svg"/><Relationship Id="rId10" Type="http://schemas.openxmlformats.org/officeDocument/2006/relationships/image" Target="../media/image34.png"/><Relationship Id="rId9" Type="http://schemas.openxmlformats.org/officeDocument/2006/relationships/image" Target="../media/image37.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01. Totem 简介：重新定义数据管理</a:t>
            </a:r>
            <a:endParaRPr lang="en-US" sz="1100"/>
          </a:p>
        </p:txBody>
      </p:sp>
      <p:sp>
        <p:nvSpPr>
          <p:cNvPr id="4" name="AutoShape 4"/>
          <p:cNvSpPr/>
          <p:nvPr/>
        </p:nvSpPr>
        <p:spPr>
          <a:xfrm>
            <a:off x="762000" y="1778000"/>
            <a:ext cx="2794000" cy="4318000"/>
          </a:xfrm>
          <a:prstGeom prst="roundRect">
            <a:avLst>
              <a:gd name="adj" fmla="val 5454"/>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a:stretch>
            <a:fillRect/>
          </a:stretch>
        </p:blipFill>
        <p:spPr>
          <a:xfrm>
            <a:off x="1270000" y="2286000"/>
            <a:ext cx="1778000" cy="1778000"/>
          </a:xfrm>
          <a:prstGeom prst="rect">
            <a:avLst/>
          </a:prstGeom>
          <a:noFill/>
          <a:ln w="25400" cap="flat" cmpd="sng">
            <a:noFill/>
            <a:prstDash val="solid"/>
            <a:round/>
          </a:ln>
        </p:spPr>
      </p:pic>
      <p:sp>
        <p:nvSpPr>
          <p:cNvPr id="6" name="AutoShape 6"/>
          <p:cNvSpPr/>
          <p:nvPr/>
        </p:nvSpPr>
        <p:spPr>
          <a:xfrm>
            <a:off x="889000" y="4318000"/>
            <a:ext cx="254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1F2937"/>
                </a:solidFill>
                <a:latin typeface="Noto Sans SC"/>
                <a:ea typeface="Noto Sans SC"/>
                <a:cs typeface="Noto Sans SC"/>
                <a:sym typeface="Noto Sans SC"/>
              </a:rPr>
              <a:t>武汉大学</a:t>
            </a:r>
            <a:endParaRPr lang="en-US" sz="1100"/>
          </a:p>
        </p:txBody>
      </p:sp>
      <p:sp>
        <p:nvSpPr>
          <p:cNvPr id="7" name="AutoShape 7"/>
          <p:cNvSpPr/>
          <p:nvPr/>
        </p:nvSpPr>
        <p:spPr>
          <a:xfrm>
            <a:off x="889000" y="5207000"/>
            <a:ext cx="2540000" cy="762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400" b="0" i="0" u="none" strike="noStrike">
                <a:solidFill>
                  <a:srgbClr val="6B7280"/>
                </a:solidFill>
                <a:latin typeface="Noto Sans SC"/>
                <a:ea typeface="Noto Sans SC"/>
                <a:cs typeface="Noto Sans SC"/>
                <a:sym typeface="Noto Sans SC"/>
              </a:rPr>
              <a:t>自主研发 · 底层原创</a:t>
            </a:r>
            <a:br>
              <a:rPr lang="en-US" sz="1400" b="0" i="0" u="none" strike="noStrike">
                <a:solidFill>
                  <a:srgbClr val="6B7280"/>
                </a:solidFill>
                <a:latin typeface="Noto Sans SC"/>
                <a:ea typeface="Noto Sans SC"/>
                <a:cs typeface="Noto Sans SC"/>
                <a:sym typeface="Noto Sans SC"/>
              </a:rPr>
            </a:br>
            <a:r>
              <a:rPr lang="en-US" sz="1400" b="0" i="0" u="none" strike="noStrike">
                <a:solidFill>
                  <a:srgbClr val="6B7280"/>
                </a:solidFill>
                <a:latin typeface="Noto Sans SC"/>
                <a:ea typeface="Noto Sans SC"/>
                <a:cs typeface="Noto Sans SC"/>
                <a:sym typeface="Noto Sans SC"/>
              </a:rPr>
              <a:t>数据库管理系统</a:t>
            </a:r>
            <a:endParaRPr lang="en-US" sz="1100"/>
          </a:p>
        </p:txBody>
      </p:sp>
      <p:sp>
        <p:nvSpPr>
          <p:cNvPr id="8" name="AutoShape 8"/>
          <p:cNvSpPr/>
          <p:nvPr/>
        </p:nvSpPr>
        <p:spPr>
          <a:xfrm>
            <a:off x="3937000" y="1778000"/>
            <a:ext cx="2540000" cy="4318000"/>
          </a:xfrm>
          <a:prstGeom prst="roundRect">
            <a:avLst>
              <a:gd name="adj" fmla="val 6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3937000" y="1778000"/>
            <a:ext cx="25400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p:blipFill>
        <p:spPr>
          <a:xfrm>
            <a:off x="4191000" y="2286000"/>
            <a:ext cx="457200" cy="457200"/>
          </a:xfrm>
          <a:prstGeom prst="rect">
            <a:avLst/>
          </a:prstGeom>
        </p:spPr>
      </p:pic>
      <p:sp>
        <p:nvSpPr>
          <p:cNvPr id="11" name="AutoShape 11"/>
          <p:cNvSpPr/>
          <p:nvPr/>
        </p:nvSpPr>
        <p:spPr>
          <a:xfrm>
            <a:off x="4064000" y="30480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1F2937"/>
                </a:solidFill>
                <a:latin typeface="Noto Sans SC"/>
                <a:ea typeface="Noto Sans SC"/>
                <a:cs typeface="Noto Sans SC"/>
                <a:sym typeface="Noto Sans SC"/>
              </a:rPr>
              <a:t>什么是 Totem？</a:t>
            </a:r>
            <a:endParaRPr lang="en-US" sz="1100"/>
          </a:p>
        </p:txBody>
      </p:sp>
      <p:sp>
        <p:nvSpPr>
          <p:cNvPr id="12" name="AutoShape 12"/>
          <p:cNvSpPr/>
          <p:nvPr/>
        </p:nvSpPr>
        <p:spPr>
          <a:xfrm>
            <a:off x="4127500" y="3937000"/>
            <a:ext cx="2159000" cy="1778000"/>
          </a:xfrm>
          <a:prstGeom prst="rect">
            <a:avLst/>
          </a:prstGeom>
          <a:noFill/>
          <a:ln w="12700" cap="flat" cmpd="sng">
            <a:noFill/>
            <a:prstDash val="solid"/>
            <a:round/>
          </a:ln>
        </p:spPr>
        <p:txBody>
          <a:bodyPr vert="horz" wrap="square" lIns="0" tIns="0" rIns="0" bIns="0" rtlCol="0" anchor="ctr" anchorCtr="0"/>
          <a:lstStyle/>
          <a:p>
            <a:pPr>
              <a:lnSpc>
                <a:spcPct val="133333"/>
              </a:lnSpc>
              <a:defRPr/>
            </a:pPr>
            <a:r>
              <a:rPr lang="en-US" sz="1300" b="1" dirty="0" err="1">
                <a:solidFill>
                  <a:srgbClr val="34D399"/>
                </a:solidFill>
                <a:latin typeface="Noto Sans SC"/>
                <a:ea typeface="Noto Sans SC"/>
                <a:cs typeface="Noto Sans SC"/>
                <a:sym typeface="Noto Sans SC"/>
              </a:rPr>
              <a:t>一款基于对象代理模型</a:t>
            </a:r>
            <a:r>
              <a:rPr lang="en-US" sz="1300" b="1" dirty="0">
                <a:solidFill>
                  <a:srgbClr val="34D399"/>
                </a:solidFill>
                <a:latin typeface="Noto Sans SC"/>
                <a:ea typeface="Noto Sans SC"/>
                <a:cs typeface="Noto Sans SC"/>
                <a:sym typeface="Noto Sans SC"/>
              </a:rPr>
              <a:t> (Object Deputy Model)</a:t>
            </a:r>
            <a:r>
              <a:rPr lang="en-US" sz="1300" b="1" dirty="0" err="1">
                <a:solidFill>
                  <a:srgbClr val="34D399"/>
                </a:solidFill>
                <a:latin typeface="Noto Sans SC"/>
                <a:ea typeface="Noto Sans SC"/>
                <a:cs typeface="Noto Sans SC"/>
                <a:sym typeface="Noto Sans SC"/>
              </a:rPr>
              <a:t>构建的新型数据库管理系统</a:t>
            </a:r>
            <a:r>
              <a:rPr lang="en-US" sz="1300" b="1" dirty="0">
                <a:solidFill>
                  <a:srgbClr val="34D399"/>
                </a:solidFill>
                <a:latin typeface="Noto Sans SC"/>
                <a:ea typeface="Noto Sans SC"/>
                <a:cs typeface="Noto Sans SC"/>
                <a:sym typeface="Noto Sans SC"/>
              </a:rPr>
              <a:t> </a:t>
            </a:r>
            <a:r>
              <a:rPr lang="en-US" sz="1300" b="1" dirty="0" smtClean="0">
                <a:solidFill>
                  <a:srgbClr val="34D399"/>
                </a:solidFill>
                <a:latin typeface="Noto Sans SC"/>
                <a:ea typeface="Noto Sans SC"/>
                <a:cs typeface="Noto Sans SC"/>
                <a:sym typeface="Noto Sans SC"/>
              </a:rPr>
              <a:t>(</a:t>
            </a:r>
            <a:r>
              <a:rPr lang="zh-CN" altLang="en-US" sz="1300" b="1" dirty="0" smtClean="0">
                <a:solidFill>
                  <a:srgbClr val="34D399"/>
                </a:solidFill>
                <a:latin typeface="Noto Sans SC"/>
                <a:ea typeface="Noto Sans SC"/>
                <a:cs typeface="Noto Sans SC"/>
              </a:rPr>
              <a:t>基于 </a:t>
            </a:r>
            <a:r>
              <a:rPr lang="en-US" altLang="zh-CN" sz="1300" b="1" dirty="0">
                <a:solidFill>
                  <a:srgbClr val="34D399"/>
                </a:solidFill>
                <a:latin typeface="Noto Sans SC"/>
                <a:ea typeface="Noto Sans SC"/>
                <a:cs typeface="Noto Sans SC"/>
              </a:rPr>
              <a:t>PostgreSQL </a:t>
            </a:r>
            <a:r>
              <a:rPr lang="zh-CN" altLang="en-US" sz="1300" b="1" dirty="0">
                <a:solidFill>
                  <a:srgbClr val="34D399"/>
                </a:solidFill>
                <a:latin typeface="Noto Sans SC"/>
                <a:ea typeface="Noto Sans SC"/>
                <a:cs typeface="Noto Sans SC"/>
              </a:rPr>
              <a:t>深度改造的对象代理数据库</a:t>
            </a:r>
          </a:p>
          <a:p>
            <a:pPr indent="0" algn="l">
              <a:lnSpc>
                <a:spcPct val="133333"/>
              </a:lnSpc>
              <a:defRPr/>
            </a:pPr>
            <a:r>
              <a:rPr lang="en-US" sz="1300" b="1" dirty="0">
                <a:solidFill>
                  <a:srgbClr val="34D399"/>
                </a:solidFill>
                <a:latin typeface="Noto Sans SC"/>
                <a:ea typeface="Noto Sans SC"/>
                <a:cs typeface="Noto Sans SC"/>
                <a:sym typeface="Noto Sans SC"/>
              </a:rPr>
              <a:t>。</a:t>
            </a:r>
            <a:endParaRPr lang="en-US" sz="1300" b="1" dirty="0">
              <a:solidFill>
                <a:srgbClr val="34D399"/>
              </a:solidFill>
              <a:latin typeface="Noto Sans SC"/>
              <a:ea typeface="Noto Sans SC"/>
              <a:cs typeface="Noto Sans SC"/>
            </a:endParaRPr>
          </a:p>
        </p:txBody>
      </p:sp>
      <p:sp>
        <p:nvSpPr>
          <p:cNvPr id="13" name="AutoShape 13"/>
          <p:cNvSpPr/>
          <p:nvPr/>
        </p:nvSpPr>
        <p:spPr>
          <a:xfrm>
            <a:off x="6731000" y="1778000"/>
            <a:ext cx="2540000" cy="4318000"/>
          </a:xfrm>
          <a:prstGeom prst="roundRect">
            <a:avLst>
              <a:gd name="adj" fmla="val 6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6731000" y="1778000"/>
            <a:ext cx="25400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6985000" y="2286000"/>
            <a:ext cx="457200" cy="457200"/>
          </a:xfrm>
          <a:prstGeom prst="rect">
            <a:avLst/>
          </a:prstGeom>
        </p:spPr>
      </p:pic>
      <p:sp>
        <p:nvSpPr>
          <p:cNvPr id="16" name="AutoShape 16"/>
          <p:cNvSpPr/>
          <p:nvPr/>
        </p:nvSpPr>
        <p:spPr>
          <a:xfrm>
            <a:off x="6858000" y="30480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1F2937"/>
                </a:solidFill>
                <a:latin typeface="Noto Sans SC"/>
                <a:ea typeface="Noto Sans SC"/>
                <a:cs typeface="Noto Sans SC"/>
                <a:sym typeface="Noto Sans SC"/>
              </a:rPr>
              <a:t>核心目标</a:t>
            </a:r>
            <a:endParaRPr lang="en-US" sz="1100"/>
          </a:p>
        </p:txBody>
      </p:sp>
      <p:sp>
        <p:nvSpPr>
          <p:cNvPr id="17" name="AutoShape 17"/>
          <p:cNvSpPr/>
          <p:nvPr/>
        </p:nvSpPr>
        <p:spPr>
          <a:xfrm>
            <a:off x="6921500" y="3937000"/>
            <a:ext cx="2159000" cy="1778000"/>
          </a:xfrm>
          <a:prstGeom prst="rect">
            <a:avLst/>
          </a:prstGeom>
          <a:noFill/>
          <a:ln w="12700" cap="flat" cmpd="sng">
            <a:noFill/>
            <a:prstDash val="solid"/>
            <a:round/>
          </a:ln>
        </p:spPr>
        <p:txBody>
          <a:bodyPr vert="horz" wrap="square" lIns="0" tIns="0" rIns="0" bIns="0" rtlCol="0" anchor="ctr" anchorCtr="0"/>
          <a:lstStyle/>
          <a:p>
            <a:pPr indent="0" algn="l">
              <a:lnSpc>
                <a:spcPct val="133333"/>
              </a:lnSpc>
              <a:defRPr/>
            </a:pPr>
            <a:r>
              <a:rPr lang="en-US" sz="1300" b="0" i="0" u="none" strike="noStrike" dirty="0" err="1">
                <a:solidFill>
                  <a:srgbClr val="4B5563"/>
                </a:solidFill>
                <a:latin typeface="Noto Sans SC"/>
                <a:ea typeface="Noto Sans SC"/>
                <a:cs typeface="Noto Sans SC"/>
                <a:sym typeface="Noto Sans SC"/>
              </a:rPr>
              <a:t>并非简单扩展现有技术，而是旨在解决传统</a:t>
            </a:r>
            <a:r>
              <a:rPr lang="en-US" sz="1300" b="1" i="0" u="none" strike="noStrike" dirty="0" err="1">
                <a:solidFill>
                  <a:srgbClr val="4B5563"/>
                </a:solidFill>
                <a:latin typeface="Noto Sans SC"/>
                <a:ea typeface="Noto Sans SC"/>
                <a:cs typeface="Noto Sans SC"/>
                <a:sym typeface="Noto Sans SC"/>
              </a:rPr>
              <a:t>关系型数据库</a:t>
            </a:r>
            <a:r>
              <a:rPr lang="en-US" sz="1300" b="1" i="0" u="none" strike="noStrike" dirty="0">
                <a:solidFill>
                  <a:srgbClr val="4B5563"/>
                </a:solidFill>
                <a:latin typeface="Noto Sans SC"/>
                <a:ea typeface="Noto Sans SC"/>
                <a:cs typeface="Noto Sans SC"/>
                <a:sym typeface="Noto Sans SC"/>
              </a:rPr>
              <a:t>(RDBMS)</a:t>
            </a:r>
            <a:r>
              <a:rPr lang="en-US" sz="1300" b="0" i="0" u="none" strike="noStrike" dirty="0" err="1">
                <a:solidFill>
                  <a:srgbClr val="4B5563"/>
                </a:solidFill>
                <a:latin typeface="Noto Sans SC"/>
                <a:ea typeface="Noto Sans SC"/>
                <a:cs typeface="Noto Sans SC"/>
                <a:sym typeface="Noto Sans SC"/>
              </a:rPr>
              <a:t>与</a:t>
            </a:r>
            <a:r>
              <a:rPr lang="en-US" sz="1300" b="1" i="0" u="none" strike="noStrike" dirty="0" err="1">
                <a:solidFill>
                  <a:srgbClr val="4B5563"/>
                </a:solidFill>
                <a:latin typeface="Noto Sans SC"/>
                <a:ea typeface="Noto Sans SC"/>
                <a:cs typeface="Noto Sans SC"/>
                <a:sym typeface="Noto Sans SC"/>
              </a:rPr>
              <a:t>面向对象数据库</a:t>
            </a:r>
            <a:r>
              <a:rPr lang="en-US" sz="1300" b="1" i="0" u="none" strike="noStrike" dirty="0">
                <a:solidFill>
                  <a:srgbClr val="4B5563"/>
                </a:solidFill>
                <a:latin typeface="Noto Sans SC"/>
                <a:ea typeface="Noto Sans SC"/>
                <a:cs typeface="Noto Sans SC"/>
                <a:sym typeface="Noto Sans SC"/>
              </a:rPr>
              <a:t>(OODBMS)</a:t>
            </a:r>
            <a:r>
              <a:rPr lang="en-US" sz="1300" b="0" i="0" u="none" strike="noStrike" dirty="0" err="1">
                <a:solidFill>
                  <a:srgbClr val="4B5563"/>
                </a:solidFill>
                <a:latin typeface="Noto Sans SC"/>
                <a:ea typeface="Noto Sans SC"/>
                <a:cs typeface="Noto Sans SC"/>
                <a:sym typeface="Noto Sans SC"/>
              </a:rPr>
              <a:t>各自的局限性，提供更普适的解决方案</a:t>
            </a:r>
            <a:r>
              <a:rPr lang="en-US" sz="1300" b="0" i="0" u="none" strike="noStrike" dirty="0">
                <a:solidFill>
                  <a:srgbClr val="4B5563"/>
                </a:solidFill>
                <a:latin typeface="Noto Sans SC"/>
                <a:ea typeface="Noto Sans SC"/>
                <a:cs typeface="Noto Sans SC"/>
                <a:sym typeface="Noto Sans SC"/>
              </a:rPr>
              <a:t>。</a:t>
            </a:r>
            <a:endParaRPr lang="en-US" sz="1100" dirty="0"/>
          </a:p>
        </p:txBody>
      </p:sp>
      <p:sp>
        <p:nvSpPr>
          <p:cNvPr id="18" name="AutoShape 18"/>
          <p:cNvSpPr/>
          <p:nvPr/>
        </p:nvSpPr>
        <p:spPr>
          <a:xfrm>
            <a:off x="9525000" y="1778000"/>
            <a:ext cx="2540000" cy="4318000"/>
          </a:xfrm>
          <a:prstGeom prst="roundRect">
            <a:avLst>
              <a:gd name="adj" fmla="val 6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9" name="AutoShape 19"/>
          <p:cNvSpPr/>
          <p:nvPr/>
        </p:nvSpPr>
        <p:spPr>
          <a:xfrm>
            <a:off x="9525000" y="1778000"/>
            <a:ext cx="25400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p:blipFill>
        <p:spPr>
          <a:xfrm>
            <a:off x="9779000" y="2286000"/>
            <a:ext cx="457200" cy="457200"/>
          </a:xfrm>
          <a:prstGeom prst="rect">
            <a:avLst/>
          </a:prstGeom>
        </p:spPr>
      </p:pic>
      <p:sp>
        <p:nvSpPr>
          <p:cNvPr id="21" name="AutoShape 21"/>
          <p:cNvSpPr/>
          <p:nvPr/>
        </p:nvSpPr>
        <p:spPr>
          <a:xfrm>
            <a:off x="9652000" y="30480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1F2937"/>
                </a:solidFill>
                <a:latin typeface="Noto Sans SC"/>
                <a:ea typeface="Noto Sans SC"/>
                <a:cs typeface="Noto Sans SC"/>
                <a:sym typeface="Noto Sans SC"/>
              </a:rPr>
              <a:t>独特优势</a:t>
            </a:r>
            <a:endParaRPr lang="en-US" sz="1100"/>
          </a:p>
        </p:txBody>
      </p:sp>
      <p:sp>
        <p:nvSpPr>
          <p:cNvPr id="22" name="AutoShape 22"/>
          <p:cNvSpPr/>
          <p:nvPr/>
        </p:nvSpPr>
        <p:spPr>
          <a:xfrm>
            <a:off x="9715500" y="3937000"/>
            <a:ext cx="2159000" cy="1778000"/>
          </a:xfrm>
          <a:prstGeom prst="rect">
            <a:avLst/>
          </a:prstGeom>
          <a:noFill/>
          <a:ln w="12700" cap="flat" cmpd="sng">
            <a:noFill/>
            <a:prstDash val="solid"/>
            <a:round/>
          </a:ln>
        </p:spPr>
        <p:txBody>
          <a:bodyPr vert="horz" wrap="square" lIns="0" tIns="0" rIns="0" bIns="0" rtlCol="0" anchor="ctr" anchorCtr="0"/>
          <a:lstStyle/>
          <a:p>
            <a:pPr indent="0" algn="l">
              <a:lnSpc>
                <a:spcPct val="133333"/>
              </a:lnSpc>
              <a:defRPr/>
            </a:pPr>
            <a:r>
              <a:rPr lang="en-US" sz="1300" b="0" i="0" u="none" strike="noStrike" dirty="0" err="1">
                <a:solidFill>
                  <a:srgbClr val="4B5563"/>
                </a:solidFill>
                <a:latin typeface="Noto Sans SC"/>
                <a:ea typeface="Noto Sans SC"/>
                <a:cs typeface="Noto Sans SC"/>
                <a:sym typeface="Noto Sans SC"/>
              </a:rPr>
              <a:t>完美融合</a:t>
            </a:r>
            <a:r>
              <a:rPr lang="en-US" sz="1300" b="0" i="0" u="none" strike="noStrike" dirty="0">
                <a:solidFill>
                  <a:srgbClr val="4B5563"/>
                </a:solidFill>
                <a:latin typeface="Noto Sans SC"/>
                <a:ea typeface="Noto Sans SC"/>
                <a:cs typeface="Noto Sans SC"/>
                <a:sym typeface="Noto Sans SC"/>
              </a:rPr>
              <a:t>：</a:t>
            </a:r>
            <a:br>
              <a:rPr lang="en-US" sz="1300" b="0" i="0" u="none" strike="noStrike" dirty="0">
                <a:solidFill>
                  <a:srgbClr val="4B5563"/>
                </a:solidFill>
                <a:latin typeface="Noto Sans SC"/>
                <a:ea typeface="Noto Sans SC"/>
                <a:cs typeface="Noto Sans SC"/>
                <a:sym typeface="Noto Sans SC"/>
              </a:rPr>
            </a:br>
            <a:r>
              <a:rPr lang="en-US" sz="1300" b="0" i="0" u="none" strike="noStrike" dirty="0">
                <a:solidFill>
                  <a:srgbClr val="4B5563"/>
                </a:solidFill>
                <a:latin typeface="Noto Sans SC"/>
                <a:ea typeface="Noto Sans SC"/>
                <a:cs typeface="Noto Sans SC"/>
                <a:sym typeface="Noto Sans SC"/>
              </a:rPr>
              <a:t>• </a:t>
            </a:r>
            <a:r>
              <a:rPr lang="en-US" sz="1300" b="0" i="0" u="none" strike="noStrike" dirty="0" err="1">
                <a:solidFill>
                  <a:srgbClr val="4B5563"/>
                </a:solidFill>
                <a:latin typeface="Noto Sans SC"/>
                <a:ea typeface="Noto Sans SC"/>
                <a:cs typeface="Noto Sans SC"/>
                <a:sym typeface="Noto Sans SC"/>
              </a:rPr>
              <a:t>关系模型的</a:t>
            </a:r>
            <a:r>
              <a:rPr lang="en-US" sz="1300" b="1" i="0" u="none" strike="noStrike" dirty="0" err="1">
                <a:solidFill>
                  <a:srgbClr val="4B5563"/>
                </a:solidFill>
                <a:latin typeface="Noto Sans SC"/>
                <a:ea typeface="Noto Sans SC"/>
                <a:cs typeface="Noto Sans SC"/>
                <a:sym typeface="Noto Sans SC"/>
              </a:rPr>
              <a:t>“柔软性</a:t>
            </a:r>
            <a:r>
              <a:rPr lang="en-US" sz="1300" b="1" i="0" u="none" strike="noStrike" dirty="0">
                <a:solidFill>
                  <a:srgbClr val="4B5563"/>
                </a:solidFill>
                <a:latin typeface="Noto Sans SC"/>
                <a:ea typeface="Noto Sans SC"/>
                <a:cs typeface="Noto Sans SC"/>
                <a:sym typeface="Noto Sans SC"/>
              </a:rPr>
              <a:t>”</a:t>
            </a:r>
            <a:r>
              <a:rPr lang="en-US" sz="1300" b="0" i="0" u="none" strike="noStrike" dirty="0">
                <a:solidFill>
                  <a:srgbClr val="4B5563"/>
                </a:solidFill>
                <a:latin typeface="Noto Sans SC"/>
                <a:ea typeface="Noto Sans SC"/>
                <a:cs typeface="Noto Sans SC"/>
                <a:sym typeface="Noto Sans SC"/>
              </a:rPr>
              <a:t>(</a:t>
            </a:r>
            <a:r>
              <a:rPr lang="en-US" sz="1300" b="0" i="0" u="none" strike="noStrike" dirty="0" err="1">
                <a:solidFill>
                  <a:srgbClr val="4B5563"/>
                </a:solidFill>
                <a:latin typeface="Noto Sans SC"/>
                <a:ea typeface="Noto Sans SC"/>
                <a:cs typeface="Noto Sans SC"/>
                <a:sym typeface="Noto Sans SC"/>
              </a:rPr>
              <a:t>数据的自由分割与重组</a:t>
            </a:r>
            <a:r>
              <a:rPr lang="en-US" sz="1300" b="0" i="0" u="none" strike="noStrike" dirty="0">
                <a:solidFill>
                  <a:srgbClr val="4B5563"/>
                </a:solidFill>
                <a:latin typeface="Noto Sans SC"/>
                <a:ea typeface="Noto Sans SC"/>
                <a:cs typeface="Noto Sans SC"/>
                <a:sym typeface="Noto Sans SC"/>
              </a:rPr>
              <a:t>)</a:t>
            </a:r>
            <a:br>
              <a:rPr lang="en-US" sz="1300" b="0" i="0" u="none" strike="noStrike" dirty="0">
                <a:solidFill>
                  <a:srgbClr val="4B5563"/>
                </a:solidFill>
                <a:latin typeface="Noto Sans SC"/>
                <a:ea typeface="Noto Sans SC"/>
                <a:cs typeface="Noto Sans SC"/>
                <a:sym typeface="Noto Sans SC"/>
              </a:rPr>
            </a:br>
            <a:r>
              <a:rPr lang="en-US" sz="1300" b="0" i="0" u="none" strike="noStrike" dirty="0">
                <a:solidFill>
                  <a:srgbClr val="4B5563"/>
                </a:solidFill>
                <a:latin typeface="Noto Sans SC"/>
                <a:ea typeface="Noto Sans SC"/>
                <a:cs typeface="Noto Sans SC"/>
                <a:sym typeface="Noto Sans SC"/>
              </a:rPr>
              <a:t>• </a:t>
            </a:r>
            <a:r>
              <a:rPr lang="en-US" sz="1300" b="0" i="0" u="none" strike="noStrike" dirty="0" err="1">
                <a:solidFill>
                  <a:srgbClr val="4B5563"/>
                </a:solidFill>
                <a:latin typeface="Noto Sans SC"/>
                <a:ea typeface="Noto Sans SC"/>
                <a:cs typeface="Noto Sans SC"/>
                <a:sym typeface="Noto Sans SC"/>
              </a:rPr>
              <a:t>面向对象模型的</a:t>
            </a:r>
            <a:r>
              <a:rPr lang="en-US" sz="1300" b="1" i="0" u="none" strike="noStrike" dirty="0" err="1">
                <a:solidFill>
                  <a:srgbClr val="4B5563"/>
                </a:solidFill>
                <a:latin typeface="Noto Sans SC"/>
                <a:ea typeface="Noto Sans SC"/>
                <a:cs typeface="Noto Sans SC"/>
                <a:sym typeface="Noto Sans SC"/>
              </a:rPr>
              <a:t>“语义丰富性</a:t>
            </a:r>
            <a:r>
              <a:rPr lang="en-US" sz="1300" b="1" i="0" u="none" strike="noStrike" dirty="0">
                <a:solidFill>
                  <a:srgbClr val="4B5563"/>
                </a:solidFill>
                <a:latin typeface="Noto Sans SC"/>
                <a:ea typeface="Noto Sans SC"/>
                <a:cs typeface="Noto Sans SC"/>
                <a:sym typeface="Noto Sans SC"/>
              </a:rPr>
              <a:t>”</a:t>
            </a:r>
            <a:r>
              <a:rPr lang="en-US" sz="1300" b="0" i="0" u="none" strike="noStrike" dirty="0">
                <a:solidFill>
                  <a:srgbClr val="4B5563"/>
                </a:solidFill>
                <a:latin typeface="Noto Sans SC"/>
                <a:ea typeface="Noto Sans SC"/>
                <a:cs typeface="Noto Sans SC"/>
                <a:sym typeface="Noto Sans SC"/>
              </a:rPr>
              <a:t>(</a:t>
            </a:r>
            <a:r>
              <a:rPr lang="en-US" sz="1300" b="0" i="0" u="none" strike="noStrike" dirty="0" err="1">
                <a:solidFill>
                  <a:srgbClr val="4B5563"/>
                </a:solidFill>
                <a:latin typeface="Noto Sans SC"/>
                <a:ea typeface="Noto Sans SC"/>
                <a:cs typeface="Noto Sans SC"/>
                <a:sym typeface="Noto Sans SC"/>
              </a:rPr>
              <a:t>数据与操作的封装</a:t>
            </a:r>
            <a:r>
              <a:rPr lang="en-US" sz="1300" b="0" i="0" u="none" strike="noStrike" dirty="0">
                <a:solidFill>
                  <a:srgbClr val="4B5563"/>
                </a:solidFill>
                <a:latin typeface="Noto Sans SC"/>
                <a:ea typeface="Noto Sans SC"/>
                <a:cs typeface="Noto Sans SC"/>
                <a:sym typeface="Noto Sans SC"/>
              </a:rPr>
              <a: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四种核心代理类型</a:t>
            </a:r>
            <a:endParaRPr lang="en-US" sz="1100"/>
          </a:p>
        </p:txBody>
      </p:sp>
      <p:sp>
        <p:nvSpPr>
          <p:cNvPr id="4" name="AutoShape 4"/>
          <p:cNvSpPr/>
          <p:nvPr/>
        </p:nvSpPr>
        <p:spPr>
          <a:xfrm>
            <a:off x="762000" y="1651000"/>
            <a:ext cx="5207000" cy="2286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1016000" y="2133600"/>
            <a:ext cx="1016000" cy="1016000"/>
          </a:xfrm>
          <a:prstGeom prst="rect">
            <a:avLst/>
          </a:prstGeom>
        </p:spPr>
      </p:pic>
      <p:sp>
        <p:nvSpPr>
          <p:cNvPr id="6" name="AutoShape 6"/>
          <p:cNvSpPr/>
          <p:nvPr/>
        </p:nvSpPr>
        <p:spPr>
          <a:xfrm>
            <a:off x="2286000" y="1905000"/>
            <a:ext cx="3429000" cy="177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dirty="0">
                <a:solidFill>
                  <a:srgbClr val="1F2937"/>
                </a:solidFill>
                <a:latin typeface="Noto Sans SC"/>
                <a:ea typeface="Noto Sans SC"/>
                <a:cs typeface="Noto Sans SC"/>
                <a:sym typeface="Noto Sans SC"/>
              </a:rPr>
              <a:t>Select </a:t>
            </a:r>
            <a:r>
              <a:rPr lang="en-US" sz="2000" b="1" i="0" u="none" strike="noStrike" dirty="0" err="1">
                <a:solidFill>
                  <a:srgbClr val="1F2937"/>
                </a:solidFill>
                <a:latin typeface="Noto Sans SC"/>
                <a:ea typeface="Noto Sans SC"/>
                <a:cs typeface="Noto Sans SC"/>
                <a:sym typeface="Noto Sans SC"/>
              </a:rPr>
              <a:t>代理</a:t>
            </a:r>
            <a:r>
              <a:rPr lang="en-US" sz="1600" b="1" i="0" u="none" strike="noStrike" dirty="0" err="1">
                <a:solidFill>
                  <a:srgbClr val="34D399"/>
                </a:solidFill>
                <a:latin typeface="Noto Sans SC"/>
                <a:ea typeface="Noto Sans SC"/>
                <a:cs typeface="Noto Sans SC"/>
                <a:sym typeface="Noto Sans SC"/>
              </a:rPr>
              <a:t>SELECTDEPUTYCLASS</a:t>
            </a:r>
            <a:endParaRPr lang="en-US" sz="1100" dirty="0"/>
          </a:p>
          <a:p>
            <a:pPr indent="0" algn="l">
              <a:lnSpc>
                <a:spcPct val="116666"/>
              </a:lnSpc>
              <a:spcBef>
                <a:spcPts val="1200"/>
              </a:spcBef>
            </a:pPr>
            <a:r>
              <a:rPr lang="en-US" sz="1300" b="0" i="0" u="none" strike="noStrike" dirty="0" err="1">
                <a:solidFill>
                  <a:srgbClr val="4B5563"/>
                </a:solidFill>
                <a:latin typeface="Noto Sans SC"/>
                <a:ea typeface="Noto Sans SC"/>
                <a:cs typeface="Noto Sans SC"/>
                <a:sym typeface="Noto Sans SC"/>
              </a:rPr>
              <a:t>从单个源类中筛选出符合特定条件的对象，</a:t>
            </a:r>
            <a:r>
              <a:rPr lang="en-US" sz="1300" b="0" i="0" u="none" strike="noStrike" dirty="0" err="1" smtClean="0">
                <a:solidFill>
                  <a:srgbClr val="4B5563"/>
                </a:solidFill>
                <a:latin typeface="Noto Sans SC"/>
                <a:ea typeface="Noto Sans SC"/>
                <a:cs typeface="Noto Sans SC"/>
                <a:sym typeface="Noto Sans SC"/>
              </a:rPr>
              <a:t>形成一个子集</a:t>
            </a:r>
            <a:r>
              <a:rPr lang="en-US" sz="1300" b="0" i="0" u="none" strike="noStrike" dirty="0" smtClean="0">
                <a:solidFill>
                  <a:srgbClr val="4B5563"/>
                </a:solidFill>
                <a:latin typeface="Noto Sans SC"/>
                <a:ea typeface="Noto Sans SC"/>
                <a:cs typeface="Noto Sans SC"/>
                <a:sym typeface="Noto Sans SC"/>
              </a:rPr>
              <a:t>。</a:t>
            </a:r>
            <a:endParaRPr lang="en-US" sz="1300" b="0" i="0" u="none" strike="noStrike" dirty="0">
              <a:solidFill>
                <a:srgbClr val="4B5563"/>
              </a:solidFill>
              <a:latin typeface="Noto Sans SC"/>
              <a:ea typeface="Noto Sans SC"/>
              <a:cs typeface="Noto Sans SC"/>
              <a:sym typeface="Noto Sans SC"/>
            </a:endParaRPr>
          </a:p>
        </p:txBody>
      </p:sp>
      <p:sp>
        <p:nvSpPr>
          <p:cNvPr id="7" name="AutoShape 7"/>
          <p:cNvSpPr/>
          <p:nvPr/>
        </p:nvSpPr>
        <p:spPr>
          <a:xfrm>
            <a:off x="6223000" y="1651000"/>
            <a:ext cx="5207000" cy="2286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6477000" y="2133600"/>
            <a:ext cx="1016000" cy="1016000"/>
          </a:xfrm>
          <a:prstGeom prst="rect">
            <a:avLst/>
          </a:prstGeom>
        </p:spPr>
      </p:pic>
      <p:sp>
        <p:nvSpPr>
          <p:cNvPr id="9" name="AutoShape 9"/>
          <p:cNvSpPr/>
          <p:nvPr/>
        </p:nvSpPr>
        <p:spPr>
          <a:xfrm>
            <a:off x="7747000" y="1905000"/>
            <a:ext cx="3429000" cy="177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dirty="0">
                <a:solidFill>
                  <a:srgbClr val="1F2937"/>
                </a:solidFill>
                <a:latin typeface="Noto Sans SC"/>
                <a:ea typeface="Noto Sans SC"/>
                <a:cs typeface="Noto Sans SC"/>
                <a:sym typeface="Noto Sans SC"/>
              </a:rPr>
              <a:t>Join </a:t>
            </a:r>
            <a:r>
              <a:rPr lang="en-US" sz="2000" b="1" i="0" u="none" strike="noStrike" dirty="0" err="1">
                <a:solidFill>
                  <a:srgbClr val="1F2937"/>
                </a:solidFill>
                <a:latin typeface="Noto Sans SC"/>
                <a:ea typeface="Noto Sans SC"/>
                <a:cs typeface="Noto Sans SC"/>
                <a:sym typeface="Noto Sans SC"/>
              </a:rPr>
              <a:t>代理</a:t>
            </a:r>
            <a:r>
              <a:rPr lang="en-US" sz="1600" b="1" i="0" u="none" strike="noStrike" dirty="0" err="1">
                <a:solidFill>
                  <a:srgbClr val="34D399"/>
                </a:solidFill>
                <a:latin typeface="Noto Sans SC"/>
                <a:ea typeface="Noto Sans SC"/>
                <a:cs typeface="Noto Sans SC"/>
                <a:sym typeface="Noto Sans SC"/>
              </a:rPr>
              <a:t>JOINDEPUTYCLASS</a:t>
            </a:r>
            <a:endParaRPr lang="en-US" sz="1100" dirty="0"/>
          </a:p>
          <a:p>
            <a:pPr indent="0" algn="l">
              <a:lnSpc>
                <a:spcPct val="116666"/>
              </a:lnSpc>
              <a:spcBef>
                <a:spcPts val="1200"/>
              </a:spcBef>
            </a:pPr>
            <a:r>
              <a:rPr lang="en-US" sz="1300" b="0" i="0" u="none" strike="noStrike" dirty="0" err="1" smtClean="0">
                <a:solidFill>
                  <a:srgbClr val="4B5563"/>
                </a:solidFill>
                <a:latin typeface="Noto Sans SC"/>
                <a:ea typeface="Noto Sans SC"/>
                <a:cs typeface="Noto Sans SC"/>
                <a:sym typeface="Noto Sans SC"/>
              </a:rPr>
              <a:t>将多个源类通过关联条件连接起来。</a:t>
            </a:r>
            <a:r>
              <a:rPr lang="en-US" sz="1300" b="0" i="0" u="none" strike="noStrike" dirty="0" err="1">
                <a:solidFill>
                  <a:srgbClr val="4B5563"/>
                </a:solidFill>
                <a:latin typeface="Noto Sans SC"/>
                <a:ea typeface="Noto Sans SC"/>
                <a:cs typeface="Noto Sans SC"/>
                <a:sym typeface="Noto Sans SC"/>
              </a:rPr>
              <a:t>类似于</a:t>
            </a:r>
            <a:r>
              <a:rPr lang="en-US" sz="1300" b="0" i="0" u="none" strike="noStrike" dirty="0">
                <a:solidFill>
                  <a:srgbClr val="4B5563"/>
                </a:solidFill>
                <a:latin typeface="Noto Sans SC"/>
                <a:ea typeface="Noto Sans SC"/>
                <a:cs typeface="Noto Sans SC"/>
                <a:sym typeface="Noto Sans SC"/>
              </a:rPr>
              <a:t> SQL </a:t>
            </a:r>
            <a:r>
              <a:rPr lang="en-US" sz="1300" b="0" i="0" u="none" strike="noStrike" dirty="0" err="1">
                <a:solidFill>
                  <a:srgbClr val="4B5563"/>
                </a:solidFill>
                <a:latin typeface="Noto Sans SC"/>
                <a:ea typeface="Noto Sans SC"/>
                <a:cs typeface="Noto Sans SC"/>
                <a:sym typeface="Noto Sans SC"/>
              </a:rPr>
              <a:t>的</a:t>
            </a:r>
            <a:r>
              <a:rPr lang="en-US" sz="1300" b="1" i="0" u="none" strike="noStrike" dirty="0" err="1">
                <a:solidFill>
                  <a:srgbClr val="4B5563"/>
                </a:solidFill>
                <a:latin typeface="Noto Sans SC"/>
                <a:ea typeface="Noto Sans SC"/>
                <a:cs typeface="Noto Sans SC"/>
                <a:sym typeface="Noto Sans SC"/>
              </a:rPr>
              <a:t>JOIN</a:t>
            </a:r>
            <a:r>
              <a:rPr lang="en-US" sz="1300" b="0" i="0" u="none" strike="noStrike" dirty="0" err="1">
                <a:solidFill>
                  <a:srgbClr val="4B5563"/>
                </a:solidFill>
                <a:latin typeface="Noto Sans SC"/>
                <a:ea typeface="Noto Sans SC"/>
                <a:cs typeface="Noto Sans SC"/>
                <a:sym typeface="Noto Sans SC"/>
              </a:rPr>
              <a:t>语句</a:t>
            </a:r>
            <a:r>
              <a:rPr lang="en-US" sz="1300" b="0" i="0" u="none" strike="noStrike" dirty="0">
                <a:solidFill>
                  <a:srgbClr val="4B5563"/>
                </a:solidFill>
                <a:latin typeface="Noto Sans SC"/>
                <a:ea typeface="Noto Sans SC"/>
                <a:cs typeface="Noto Sans SC"/>
                <a:sym typeface="Noto Sans SC"/>
              </a:rPr>
              <a:t>。</a:t>
            </a:r>
          </a:p>
        </p:txBody>
      </p:sp>
      <p:sp>
        <p:nvSpPr>
          <p:cNvPr id="10" name="AutoShape 10"/>
          <p:cNvSpPr/>
          <p:nvPr/>
        </p:nvSpPr>
        <p:spPr>
          <a:xfrm>
            <a:off x="762000" y="4191000"/>
            <a:ext cx="5207000" cy="2286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a:off x="1016000" y="4673600"/>
            <a:ext cx="1016000" cy="1016000"/>
          </a:xfrm>
          <a:prstGeom prst="rect">
            <a:avLst/>
          </a:prstGeom>
        </p:spPr>
      </p:pic>
      <p:sp>
        <p:nvSpPr>
          <p:cNvPr id="12" name="AutoShape 12"/>
          <p:cNvSpPr/>
          <p:nvPr/>
        </p:nvSpPr>
        <p:spPr>
          <a:xfrm>
            <a:off x="2286000" y="4445000"/>
            <a:ext cx="3429000" cy="177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dirty="0">
                <a:solidFill>
                  <a:srgbClr val="1F2937"/>
                </a:solidFill>
                <a:latin typeface="Noto Sans SC"/>
                <a:ea typeface="Noto Sans SC"/>
                <a:cs typeface="Noto Sans SC"/>
                <a:sym typeface="Noto Sans SC"/>
              </a:rPr>
              <a:t>Union </a:t>
            </a:r>
            <a:r>
              <a:rPr lang="en-US" sz="2000" b="1" i="0" u="none" strike="noStrike" dirty="0" err="1">
                <a:solidFill>
                  <a:srgbClr val="1F2937"/>
                </a:solidFill>
                <a:latin typeface="Noto Sans SC"/>
                <a:ea typeface="Noto Sans SC"/>
                <a:cs typeface="Noto Sans SC"/>
                <a:sym typeface="Noto Sans SC"/>
              </a:rPr>
              <a:t>代理</a:t>
            </a:r>
            <a:r>
              <a:rPr lang="en-US" sz="1600" b="1" i="0" u="none" strike="noStrike" dirty="0" err="1">
                <a:solidFill>
                  <a:srgbClr val="34D399"/>
                </a:solidFill>
                <a:latin typeface="Noto Sans SC"/>
                <a:ea typeface="Noto Sans SC"/>
                <a:cs typeface="Noto Sans SC"/>
                <a:sym typeface="Noto Sans SC"/>
              </a:rPr>
              <a:t>UNIONDEPUTYCLASS</a:t>
            </a:r>
            <a:endParaRPr lang="en-US" sz="1100" dirty="0"/>
          </a:p>
          <a:p>
            <a:pPr indent="0" algn="l">
              <a:lnSpc>
                <a:spcPct val="116666"/>
              </a:lnSpc>
              <a:spcBef>
                <a:spcPts val="1200"/>
              </a:spcBef>
            </a:pPr>
            <a:r>
              <a:rPr lang="en-US" sz="1300" b="0" i="0" u="none" strike="noStrike" dirty="0" err="1">
                <a:solidFill>
                  <a:srgbClr val="4B5563"/>
                </a:solidFill>
                <a:latin typeface="Noto Sans SC"/>
                <a:ea typeface="Noto Sans SC"/>
                <a:cs typeface="Noto Sans SC"/>
                <a:sym typeface="Noto Sans SC"/>
              </a:rPr>
              <a:t>将多个结构相似的源类的对象合并成一个代理类。类似于</a:t>
            </a:r>
            <a:r>
              <a:rPr lang="en-US" sz="1300" b="0" i="0" u="none" strike="noStrike" dirty="0">
                <a:solidFill>
                  <a:srgbClr val="4B5563"/>
                </a:solidFill>
                <a:latin typeface="Noto Sans SC"/>
                <a:ea typeface="Noto Sans SC"/>
                <a:cs typeface="Noto Sans SC"/>
                <a:sym typeface="Noto Sans SC"/>
              </a:rPr>
              <a:t> SQL </a:t>
            </a:r>
            <a:r>
              <a:rPr lang="en-US" sz="1300" b="0" i="0" u="none" strike="noStrike" dirty="0" err="1">
                <a:solidFill>
                  <a:srgbClr val="4B5563"/>
                </a:solidFill>
                <a:latin typeface="Noto Sans SC"/>
                <a:ea typeface="Noto Sans SC"/>
                <a:cs typeface="Noto Sans SC"/>
                <a:sym typeface="Noto Sans SC"/>
              </a:rPr>
              <a:t>的</a:t>
            </a:r>
            <a:r>
              <a:rPr lang="en-US" sz="1300" b="1" i="0" u="none" strike="noStrike" dirty="0" err="1">
                <a:solidFill>
                  <a:srgbClr val="4B5563"/>
                </a:solidFill>
                <a:latin typeface="Noto Sans SC"/>
                <a:ea typeface="Noto Sans SC"/>
                <a:cs typeface="Noto Sans SC"/>
                <a:sym typeface="Noto Sans SC"/>
              </a:rPr>
              <a:t>UNION</a:t>
            </a:r>
            <a:r>
              <a:rPr lang="en-US" sz="1300" b="0" i="0" u="none" strike="noStrike" dirty="0" err="1">
                <a:solidFill>
                  <a:srgbClr val="4B5563"/>
                </a:solidFill>
                <a:latin typeface="Noto Sans SC"/>
                <a:ea typeface="Noto Sans SC"/>
                <a:cs typeface="Noto Sans SC"/>
                <a:sym typeface="Noto Sans SC"/>
              </a:rPr>
              <a:t>语句，便于数据的整合与统一查询</a:t>
            </a:r>
            <a:r>
              <a:rPr lang="en-US" sz="1300" b="0" i="0" u="none" strike="noStrike" dirty="0">
                <a:solidFill>
                  <a:srgbClr val="4B5563"/>
                </a:solidFill>
                <a:latin typeface="Noto Sans SC"/>
                <a:ea typeface="Noto Sans SC"/>
                <a:cs typeface="Noto Sans SC"/>
                <a:sym typeface="Noto Sans SC"/>
              </a:rPr>
              <a:t>。</a:t>
            </a:r>
          </a:p>
        </p:txBody>
      </p:sp>
      <p:sp>
        <p:nvSpPr>
          <p:cNvPr id="13" name="AutoShape 13"/>
          <p:cNvSpPr/>
          <p:nvPr/>
        </p:nvSpPr>
        <p:spPr>
          <a:xfrm>
            <a:off x="6223000" y="4191000"/>
            <a:ext cx="5207000" cy="2286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10">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a:off x="6477000" y="4673600"/>
            <a:ext cx="1016000" cy="1016000"/>
          </a:xfrm>
          <a:prstGeom prst="rect">
            <a:avLst/>
          </a:prstGeom>
        </p:spPr>
      </p:pic>
      <p:sp>
        <p:nvSpPr>
          <p:cNvPr id="15" name="AutoShape 15"/>
          <p:cNvSpPr/>
          <p:nvPr/>
        </p:nvSpPr>
        <p:spPr>
          <a:xfrm>
            <a:off x="7747000" y="4445000"/>
            <a:ext cx="3429000" cy="177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dirty="0">
                <a:solidFill>
                  <a:srgbClr val="1F2937"/>
                </a:solidFill>
                <a:latin typeface="Noto Sans SC"/>
                <a:ea typeface="Noto Sans SC"/>
                <a:cs typeface="Noto Sans SC"/>
                <a:sym typeface="Noto Sans SC"/>
              </a:rPr>
              <a:t>Group </a:t>
            </a:r>
            <a:r>
              <a:rPr lang="en-US" sz="2000" b="1" i="0" u="none" strike="noStrike" dirty="0" err="1">
                <a:solidFill>
                  <a:srgbClr val="1F2937"/>
                </a:solidFill>
                <a:latin typeface="Noto Sans SC"/>
                <a:ea typeface="Noto Sans SC"/>
                <a:cs typeface="Noto Sans SC"/>
                <a:sym typeface="Noto Sans SC"/>
              </a:rPr>
              <a:t>代理</a:t>
            </a:r>
            <a:r>
              <a:rPr lang="en-US" sz="1600" b="1" i="0" u="none" strike="noStrike" dirty="0" err="1">
                <a:solidFill>
                  <a:srgbClr val="34D399"/>
                </a:solidFill>
                <a:latin typeface="Noto Sans SC"/>
                <a:ea typeface="Noto Sans SC"/>
                <a:cs typeface="Noto Sans SC"/>
                <a:sym typeface="Noto Sans SC"/>
              </a:rPr>
              <a:t>GROUPDEPUTYCLASS</a:t>
            </a:r>
            <a:endParaRPr lang="en-US" sz="1100" dirty="0"/>
          </a:p>
          <a:p>
            <a:pPr indent="0" algn="l">
              <a:lnSpc>
                <a:spcPct val="116666"/>
              </a:lnSpc>
              <a:spcBef>
                <a:spcPts val="1200"/>
              </a:spcBef>
            </a:pPr>
            <a:r>
              <a:rPr lang="en-US" sz="1300" b="0" i="0" u="none" strike="noStrike" dirty="0" err="1">
                <a:solidFill>
                  <a:srgbClr val="4B5563"/>
                </a:solidFill>
                <a:latin typeface="Noto Sans SC"/>
                <a:ea typeface="Noto Sans SC"/>
                <a:cs typeface="Noto Sans SC"/>
                <a:sym typeface="Noto Sans SC"/>
              </a:rPr>
              <a:t>对源类的对象进行分组并进行聚合计算，</a:t>
            </a:r>
            <a:r>
              <a:rPr lang="en-US" sz="1300" b="0" i="0" u="none" strike="noStrike" dirty="0" err="1" smtClean="0">
                <a:solidFill>
                  <a:srgbClr val="4B5563"/>
                </a:solidFill>
                <a:latin typeface="Noto Sans SC"/>
                <a:ea typeface="Noto Sans SC"/>
                <a:cs typeface="Noto Sans SC"/>
                <a:sym typeface="Noto Sans SC"/>
              </a:rPr>
              <a:t>生成汇总。</a:t>
            </a:r>
            <a:r>
              <a:rPr lang="en-US" sz="1300" b="0" i="0" u="none" strike="noStrike" dirty="0" err="1">
                <a:solidFill>
                  <a:srgbClr val="4B5563"/>
                </a:solidFill>
                <a:latin typeface="Noto Sans SC"/>
                <a:ea typeface="Noto Sans SC"/>
                <a:cs typeface="Noto Sans SC"/>
                <a:sym typeface="Noto Sans SC"/>
              </a:rPr>
              <a:t>类似于</a:t>
            </a:r>
            <a:r>
              <a:rPr lang="en-US" sz="1300" b="0" i="0" u="none" strike="noStrike" dirty="0">
                <a:solidFill>
                  <a:srgbClr val="4B5563"/>
                </a:solidFill>
                <a:latin typeface="Noto Sans SC"/>
                <a:ea typeface="Noto Sans SC"/>
                <a:cs typeface="Noto Sans SC"/>
                <a:sym typeface="Noto Sans SC"/>
              </a:rPr>
              <a:t> SQL </a:t>
            </a:r>
            <a:r>
              <a:rPr lang="en-US" sz="1300" b="0" i="0" u="none" strike="noStrike" dirty="0" err="1">
                <a:solidFill>
                  <a:srgbClr val="4B5563"/>
                </a:solidFill>
                <a:latin typeface="Noto Sans SC"/>
                <a:ea typeface="Noto Sans SC"/>
                <a:cs typeface="Noto Sans SC"/>
                <a:sym typeface="Noto Sans SC"/>
              </a:rPr>
              <a:t>的</a:t>
            </a:r>
            <a:r>
              <a:rPr lang="en-US" sz="1300" b="1" i="0" u="none" strike="noStrike" dirty="0" err="1">
                <a:solidFill>
                  <a:srgbClr val="4B5563"/>
                </a:solidFill>
                <a:latin typeface="Noto Sans SC"/>
                <a:ea typeface="Noto Sans SC"/>
                <a:cs typeface="Noto Sans SC"/>
                <a:sym typeface="Noto Sans SC"/>
              </a:rPr>
              <a:t>GROUP</a:t>
            </a:r>
            <a:r>
              <a:rPr lang="en-US" sz="1300" b="1" i="0" u="none" strike="noStrike" dirty="0">
                <a:solidFill>
                  <a:srgbClr val="4B5563"/>
                </a:solidFill>
                <a:latin typeface="Noto Sans SC"/>
                <a:ea typeface="Noto Sans SC"/>
                <a:cs typeface="Noto Sans SC"/>
                <a:sym typeface="Noto Sans SC"/>
              </a:rPr>
              <a:t> </a:t>
            </a:r>
            <a:r>
              <a:rPr lang="en-US" sz="1300" b="1" i="0" u="none" strike="noStrike" dirty="0" err="1">
                <a:solidFill>
                  <a:srgbClr val="4B5563"/>
                </a:solidFill>
                <a:latin typeface="Noto Sans SC"/>
                <a:ea typeface="Noto Sans SC"/>
                <a:cs typeface="Noto Sans SC"/>
                <a:sym typeface="Noto Sans SC"/>
              </a:rPr>
              <a:t>BY</a:t>
            </a:r>
            <a:r>
              <a:rPr lang="en-US" sz="1300" b="0" i="0" u="none" strike="noStrike" dirty="0" err="1">
                <a:solidFill>
                  <a:srgbClr val="4B5563"/>
                </a:solidFill>
                <a:latin typeface="Noto Sans SC"/>
                <a:ea typeface="Noto Sans SC"/>
                <a:cs typeface="Noto Sans SC"/>
                <a:sym typeface="Noto Sans SC"/>
              </a:rPr>
              <a:t>语句</a:t>
            </a:r>
            <a:r>
              <a:rPr lang="en-US" sz="1300" b="0" i="0" u="none" strike="noStrike" dirty="0">
                <a:solidFill>
                  <a:srgbClr val="4B5563"/>
                </a:solidFill>
                <a:latin typeface="Noto Sans SC"/>
                <a:ea typeface="Noto Sans SC"/>
                <a:cs typeface="Noto Sans SC"/>
                <a:sym typeface="Noto Sans SC"/>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F2937"/>
                </a:solidFill>
                <a:latin typeface="Noto Sans SC"/>
                <a:ea typeface="Noto Sans SC"/>
                <a:cs typeface="Noto Sans SC"/>
                <a:sym typeface="Noto Sans SC"/>
              </a:rPr>
              <a:t>高度兼容的SQL语法</a:t>
            </a:r>
            <a:endParaRPr lang="en-US" sz="1100"/>
          </a:p>
        </p:txBody>
      </p:sp>
      <p:sp>
        <p:nvSpPr>
          <p:cNvPr id="4" name="AutoShape 4"/>
          <p:cNvSpPr/>
          <p:nvPr/>
        </p:nvSpPr>
        <p:spPr>
          <a:xfrm>
            <a:off x="835891" y="2540000"/>
            <a:ext cx="6604000" cy="762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500" b="0" i="0" u="none" strike="noStrike" dirty="0" err="1">
                <a:solidFill>
                  <a:srgbClr val="374151"/>
                </a:solidFill>
                <a:latin typeface="Noto Sans SC"/>
                <a:ea typeface="Noto Sans SC"/>
                <a:cs typeface="Noto Sans SC"/>
                <a:sym typeface="Noto Sans SC"/>
              </a:rPr>
              <a:t>Totem兼容绝大部分标准SQL语法，</a:t>
            </a:r>
            <a:r>
              <a:rPr lang="en-US" sz="1500" b="0" i="0" u="none" strike="noStrike" dirty="0" err="1" smtClean="0">
                <a:solidFill>
                  <a:srgbClr val="374151"/>
                </a:solidFill>
                <a:latin typeface="Noto Sans SC"/>
                <a:ea typeface="Noto Sans SC"/>
                <a:cs typeface="Noto Sans SC"/>
                <a:sym typeface="Noto Sans SC"/>
              </a:rPr>
              <a:t>开发者只需关注关键的差异点</a:t>
            </a:r>
            <a:r>
              <a:rPr lang="en-US" sz="1500" b="0" i="0" u="none" strike="noStrike" dirty="0" err="1">
                <a:solidFill>
                  <a:srgbClr val="374151"/>
                </a:solidFill>
                <a:latin typeface="Noto Sans SC"/>
                <a:ea typeface="Noto Sans SC"/>
                <a:cs typeface="Noto Sans SC"/>
                <a:sym typeface="Noto Sans SC"/>
              </a:rPr>
              <a:t>，即可快速上手开发</a:t>
            </a:r>
            <a:r>
              <a:rPr lang="en-US" sz="1500" b="0" i="0" u="none" strike="noStrike" dirty="0">
                <a:solidFill>
                  <a:srgbClr val="374151"/>
                </a:solidFill>
                <a:latin typeface="Noto Sans SC"/>
                <a:ea typeface="Noto Sans SC"/>
                <a:cs typeface="Noto Sans SC"/>
                <a:sym typeface="Noto Sans SC"/>
              </a:rPr>
              <a:t>。</a:t>
            </a:r>
            <a:endParaRPr lang="en-US" sz="1100" dirty="0"/>
          </a:p>
        </p:txBody>
      </p:sp>
      <p:sp>
        <p:nvSpPr>
          <p:cNvPr id="5" name="AutoShape 5"/>
          <p:cNvSpPr/>
          <p:nvPr/>
        </p:nvSpPr>
        <p:spPr>
          <a:xfrm>
            <a:off x="762000" y="4667250"/>
            <a:ext cx="6604000" cy="1397000"/>
          </a:xfrm>
          <a:prstGeom prst="roundRect">
            <a:avLst>
              <a:gd name="adj" fmla="val 10909"/>
            </a:avLst>
          </a:prstGeom>
          <a:solidFill>
            <a:srgbClr val="F0FDF4">
              <a:alpha val="100000"/>
            </a:srgbClr>
          </a:solidFill>
          <a:ln w="12700" cap="flat" cmpd="sng">
            <a:solidFill>
              <a:srgbClr val="A7F3D0">
                <a:alpha val="10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1002146" y="4974936"/>
            <a:ext cx="508000" cy="508000"/>
          </a:xfrm>
          <a:prstGeom prst="rect">
            <a:avLst/>
          </a:prstGeom>
        </p:spPr>
      </p:pic>
      <p:sp>
        <p:nvSpPr>
          <p:cNvPr id="7" name="AutoShape 7"/>
          <p:cNvSpPr/>
          <p:nvPr/>
        </p:nvSpPr>
        <p:spPr>
          <a:xfrm>
            <a:off x="1750291" y="4887191"/>
            <a:ext cx="5207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600" b="1" i="0" u="none" strike="noStrike" dirty="0" err="1">
                <a:solidFill>
                  <a:srgbClr val="065F46"/>
                </a:solidFill>
                <a:latin typeface="Noto Sans SC"/>
                <a:ea typeface="Noto Sans SC"/>
                <a:cs typeface="Noto Sans SC"/>
                <a:sym typeface="Noto Sans SC"/>
              </a:rPr>
              <a:t>核心差异：从</a:t>
            </a:r>
            <a:r>
              <a:rPr lang="en-US" sz="1600" b="1" i="0" u="none" strike="noStrike" dirty="0">
                <a:solidFill>
                  <a:srgbClr val="065F46"/>
                </a:solidFill>
                <a:latin typeface="Noto Sans SC"/>
                <a:ea typeface="Noto Sans SC"/>
                <a:cs typeface="Noto Sans SC"/>
                <a:sym typeface="Noto Sans SC"/>
              </a:rPr>
              <a:t> Table 到 Class</a:t>
            </a:r>
            <a:endParaRPr lang="en-US" sz="1100" dirty="0"/>
          </a:p>
          <a:p>
            <a:pPr indent="0" algn="l">
              <a:lnSpc>
                <a:spcPct val="108333"/>
              </a:lnSpc>
            </a:pPr>
            <a:r>
              <a:rPr lang="en-US" sz="1300" b="0" i="0" u="none" strike="noStrike" dirty="0" err="1">
                <a:solidFill>
                  <a:srgbClr val="374151"/>
                </a:solidFill>
                <a:latin typeface="Noto Sans SC"/>
                <a:ea typeface="Noto Sans SC"/>
                <a:cs typeface="Noto Sans SC"/>
                <a:sym typeface="Noto Sans SC"/>
              </a:rPr>
              <a:t>在定义数据结构时，Totem</a:t>
            </a:r>
            <a:r>
              <a:rPr lang="en-US" sz="1300" b="0" i="0" u="none" strike="noStrike" dirty="0">
                <a:solidFill>
                  <a:srgbClr val="374151"/>
                </a:solidFill>
                <a:latin typeface="Noto Sans SC"/>
                <a:ea typeface="Noto Sans SC"/>
                <a:cs typeface="Noto Sans SC"/>
                <a:sym typeface="Noto Sans SC"/>
              </a:rPr>
              <a:t> </a:t>
            </a:r>
            <a:r>
              <a:rPr lang="en-US" sz="1300" b="0" i="0" u="none" strike="noStrike" dirty="0" err="1">
                <a:solidFill>
                  <a:srgbClr val="374151"/>
                </a:solidFill>
                <a:latin typeface="Noto Sans SC"/>
                <a:ea typeface="Noto Sans SC"/>
                <a:cs typeface="Noto Sans SC"/>
                <a:sym typeface="Noto Sans SC"/>
              </a:rPr>
              <a:t>使用</a:t>
            </a:r>
            <a:r>
              <a:rPr lang="en-US" sz="1300" b="1" i="0" u="none" strike="noStrike" dirty="0" err="1">
                <a:solidFill>
                  <a:srgbClr val="059669"/>
                </a:solidFill>
                <a:latin typeface="Noto Sans SC"/>
                <a:ea typeface="Noto Sans SC"/>
                <a:cs typeface="Noto Sans SC"/>
                <a:sym typeface="Noto Sans SC"/>
              </a:rPr>
              <a:t>`CREATE</a:t>
            </a:r>
            <a:r>
              <a:rPr lang="en-US" sz="1300" b="1" i="0" u="none" strike="noStrike" dirty="0">
                <a:solidFill>
                  <a:srgbClr val="059669"/>
                </a:solidFill>
                <a:latin typeface="Noto Sans SC"/>
                <a:ea typeface="Noto Sans SC"/>
                <a:cs typeface="Noto Sans SC"/>
                <a:sym typeface="Noto Sans SC"/>
              </a:rPr>
              <a:t> </a:t>
            </a:r>
            <a:r>
              <a:rPr lang="en-US" sz="1300" b="1" i="0" u="none" strike="noStrike" dirty="0" err="1">
                <a:solidFill>
                  <a:srgbClr val="059669"/>
                </a:solidFill>
                <a:latin typeface="Noto Sans SC"/>
                <a:ea typeface="Noto Sans SC"/>
                <a:cs typeface="Noto Sans SC"/>
                <a:sym typeface="Noto Sans SC"/>
              </a:rPr>
              <a:t>CLASS`</a:t>
            </a:r>
            <a:r>
              <a:rPr lang="en-US" sz="1300" b="0" i="0" u="none" strike="noStrike" dirty="0" err="1">
                <a:solidFill>
                  <a:srgbClr val="374151"/>
                </a:solidFill>
                <a:latin typeface="Noto Sans SC"/>
                <a:ea typeface="Noto Sans SC"/>
                <a:cs typeface="Noto Sans SC"/>
                <a:sym typeface="Noto Sans SC"/>
              </a:rPr>
              <a:t>替代了标准SQL的</a:t>
            </a:r>
            <a:r>
              <a:rPr lang="en-US" sz="1300" b="1" i="0" u="none" strike="noStrike" dirty="0" err="1">
                <a:solidFill>
                  <a:srgbClr val="EF4444"/>
                </a:solidFill>
                <a:latin typeface="Noto Sans SC"/>
                <a:ea typeface="Noto Sans SC"/>
                <a:cs typeface="Noto Sans SC"/>
                <a:sym typeface="Noto Sans SC"/>
              </a:rPr>
              <a:t>`CREATE</a:t>
            </a:r>
            <a:r>
              <a:rPr lang="en-US" sz="1300" b="1" i="0" u="none" strike="noStrike" dirty="0">
                <a:solidFill>
                  <a:srgbClr val="EF4444"/>
                </a:solidFill>
                <a:latin typeface="Noto Sans SC"/>
                <a:ea typeface="Noto Sans SC"/>
                <a:cs typeface="Noto Sans SC"/>
                <a:sym typeface="Noto Sans SC"/>
              </a:rPr>
              <a:t> TABLE`</a:t>
            </a:r>
            <a:r>
              <a:rPr lang="en-US" sz="1300" b="0" i="0" u="none" strike="noStrike" dirty="0">
                <a:solidFill>
                  <a:srgbClr val="374151"/>
                </a:solidFill>
                <a:latin typeface="Noto Sans SC"/>
                <a:ea typeface="Noto Sans SC"/>
                <a:cs typeface="Noto Sans SC"/>
                <a:sym typeface="Noto Sans SC"/>
              </a:rPr>
              <a:t>，</a:t>
            </a:r>
            <a:r>
              <a:rPr lang="en-US" sz="1300" b="0" i="0" u="none" strike="noStrike" dirty="0" err="1">
                <a:solidFill>
                  <a:srgbClr val="374151"/>
                </a:solidFill>
                <a:latin typeface="Noto Sans SC"/>
                <a:ea typeface="Noto Sans SC"/>
                <a:cs typeface="Noto Sans SC"/>
                <a:sym typeface="Noto Sans SC"/>
              </a:rPr>
              <a:t>其余字段定义规则保持一致</a:t>
            </a:r>
            <a:r>
              <a:rPr lang="en-US" sz="1300" b="0" i="0" u="none" strike="noStrike" dirty="0">
                <a:solidFill>
                  <a:srgbClr val="374151"/>
                </a:solidFill>
                <a:latin typeface="Noto Sans SC"/>
                <a:ea typeface="Noto Sans SC"/>
                <a:cs typeface="Noto Sans SC"/>
                <a:sym typeface="Noto Sans SC"/>
              </a:rPr>
              <a:t>。</a:t>
            </a:r>
          </a:p>
        </p:txBody>
      </p:sp>
      <p:sp>
        <p:nvSpPr>
          <p:cNvPr id="10" name="AutoShape 10"/>
          <p:cNvSpPr/>
          <p:nvPr/>
        </p:nvSpPr>
        <p:spPr>
          <a:xfrm>
            <a:off x="7874000" y="1524000"/>
            <a:ext cx="3556000" cy="1905000"/>
          </a:xfrm>
          <a:prstGeom prst="roundRect">
            <a:avLst>
              <a:gd name="adj" fmla="val 10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srcRect l="1674" r="1674"/>
          <a:stretch>
            <a:fillRect/>
          </a:stretch>
        </p:blipFill>
        <p:spPr>
          <a:xfrm>
            <a:off x="8128000" y="1778000"/>
            <a:ext cx="1143000" cy="1143000"/>
          </a:xfrm>
          <a:prstGeom prst="rect">
            <a:avLst/>
          </a:prstGeom>
          <a:noFill/>
          <a:ln w="25400" cap="flat" cmpd="sng">
            <a:noFill/>
            <a:prstDash val="solid"/>
            <a:round/>
          </a:ln>
        </p:spPr>
      </p:pic>
      <p:sp>
        <p:nvSpPr>
          <p:cNvPr id="12" name="AutoShape 12"/>
          <p:cNvSpPr/>
          <p:nvPr/>
        </p:nvSpPr>
        <p:spPr>
          <a:xfrm>
            <a:off x="9398000" y="1841500"/>
            <a:ext cx="1778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dirty="0" err="1">
                <a:solidFill>
                  <a:srgbClr val="1F2937"/>
                </a:solidFill>
                <a:latin typeface="Noto Sans SC"/>
                <a:ea typeface="Noto Sans SC"/>
                <a:cs typeface="Noto Sans SC"/>
                <a:sym typeface="Noto Sans SC"/>
              </a:rPr>
              <a:t>无缝兼容</a:t>
            </a:r>
            <a:endParaRPr lang="en-US" sz="1100" dirty="0"/>
          </a:p>
          <a:p>
            <a:pPr indent="0" algn="l">
              <a:lnSpc>
                <a:spcPct val="100000"/>
              </a:lnSpc>
            </a:pPr>
            <a:r>
              <a:rPr lang="en-US" sz="1200" b="0" i="0" u="none" strike="noStrike" dirty="0" err="1">
                <a:solidFill>
                  <a:srgbClr val="6B7280"/>
                </a:solidFill>
                <a:latin typeface="Noto Sans SC"/>
                <a:ea typeface="Noto Sans SC"/>
                <a:cs typeface="Noto Sans SC"/>
                <a:sym typeface="Noto Sans SC"/>
              </a:rPr>
              <a:t>基于成熟</a:t>
            </a:r>
            <a:r>
              <a:rPr lang="en-US" sz="1200" b="0" i="0" u="none" strike="noStrike" dirty="0">
                <a:solidFill>
                  <a:srgbClr val="6B7280"/>
                </a:solidFill>
                <a:latin typeface="Noto Sans SC"/>
                <a:ea typeface="Noto Sans SC"/>
                <a:cs typeface="Noto Sans SC"/>
                <a:sym typeface="Noto Sans SC"/>
              </a:rPr>
              <a:t> SQL </a:t>
            </a:r>
            <a:r>
              <a:rPr lang="en-US" sz="1200" b="0" i="0" u="none" strike="noStrike" dirty="0" err="1">
                <a:solidFill>
                  <a:srgbClr val="6B7280"/>
                </a:solidFill>
                <a:latin typeface="Noto Sans SC"/>
                <a:ea typeface="Noto Sans SC"/>
                <a:cs typeface="Noto Sans SC"/>
                <a:sym typeface="Noto Sans SC"/>
              </a:rPr>
              <a:t>标准</a:t>
            </a:r>
            <a:r>
              <a:rPr lang="en-US" sz="1600" b="0" i="0" u="none" strike="noStrike" dirty="0">
                <a:solidFill>
                  <a:srgbClr val="1F2329"/>
                </a:solidFill>
                <a:latin typeface="Noto Sans SC"/>
                <a:ea typeface="Noto Sans SC"/>
                <a:cs typeface="Noto Sans SC"/>
                <a:sym typeface="Noto Sans SC"/>
              </a:rPr>
              <a:t/>
            </a:r>
            <a:br>
              <a:rPr lang="en-US" sz="1600" b="0" i="0" u="none" strike="noStrike" dirty="0">
                <a:solidFill>
                  <a:srgbClr val="1F2329"/>
                </a:solidFill>
                <a:latin typeface="Noto Sans SC"/>
                <a:ea typeface="Noto Sans SC"/>
                <a:cs typeface="Noto Sans SC"/>
                <a:sym typeface="Noto Sans SC"/>
              </a:rPr>
            </a:br>
            <a:endParaRPr lang="en-US" sz="1200" b="0" i="0" u="none" strike="noStrike" dirty="0">
              <a:solidFill>
                <a:srgbClr val="6B7280"/>
              </a:solidFill>
              <a:latin typeface="Noto Sans SC"/>
              <a:ea typeface="Noto Sans SC"/>
              <a:cs typeface="Noto Sans SC"/>
              <a:sym typeface="Noto Sans SC"/>
            </a:endParaRPr>
          </a:p>
        </p:txBody>
      </p:sp>
      <p:sp>
        <p:nvSpPr>
          <p:cNvPr id="13" name="AutoShape 13"/>
          <p:cNvSpPr/>
          <p:nvPr/>
        </p:nvSpPr>
        <p:spPr>
          <a:xfrm>
            <a:off x="7874000" y="3810000"/>
            <a:ext cx="3556000" cy="2413000"/>
          </a:xfrm>
          <a:prstGeom prst="roundRect">
            <a:avLst>
              <a:gd name="adj" fmla="val 8421"/>
            </a:avLst>
          </a:prstGeom>
          <a:solidFill>
            <a:srgbClr val="FFFFFF">
              <a:alpha val="100000"/>
            </a:srgbClr>
          </a:solidFill>
          <a:ln w="25400" cap="flat" cmpd="sng">
            <a:solidFill>
              <a:srgbClr val="34D399">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8128000" y="4064000"/>
            <a:ext cx="457200" cy="457200"/>
          </a:xfrm>
          <a:prstGeom prst="rect">
            <a:avLst/>
          </a:prstGeom>
        </p:spPr>
      </p:pic>
      <p:sp>
        <p:nvSpPr>
          <p:cNvPr id="15" name="AutoShape 15"/>
          <p:cNvSpPr/>
          <p:nvPr/>
        </p:nvSpPr>
        <p:spPr>
          <a:xfrm>
            <a:off x="8763000" y="4064000"/>
            <a:ext cx="241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F2937"/>
                </a:solidFill>
                <a:latin typeface="Noto Sans SC"/>
                <a:ea typeface="Noto Sans SC"/>
                <a:cs typeface="Noto Sans SC"/>
                <a:sym typeface="Noto Sans SC"/>
              </a:rPr>
              <a:t>数据操作 100% 一致</a:t>
            </a:r>
            <a:endParaRPr lang="en-US" sz="1100"/>
          </a:p>
        </p:txBody>
      </p:sp>
      <p:sp>
        <p:nvSpPr>
          <p:cNvPr id="16" name="AutoShape 16"/>
          <p:cNvSpPr/>
          <p:nvPr/>
        </p:nvSpPr>
        <p:spPr>
          <a:xfrm>
            <a:off x="8128000" y="4826000"/>
            <a:ext cx="3048000" cy="127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374151"/>
                </a:solidFill>
                <a:latin typeface="Consolas"/>
                <a:ea typeface="Consolas"/>
                <a:cs typeface="Consolas"/>
                <a:sym typeface="Consolas"/>
              </a:rPr>
              <a:t>`INSERT` • `UPDATE` • `DELETE` • `SELECT`</a:t>
            </a:r>
            <a:endParaRPr lang="en-US" sz="1100"/>
          </a:p>
          <a:p>
            <a:pPr indent="0" algn="ctr">
              <a:lnSpc>
                <a:spcPct val="116666"/>
              </a:lnSpc>
            </a:pPr>
            <a:r>
              <a:rPr lang="en-US" sz="1200" b="0" i="0" u="none" strike="noStrike">
                <a:solidFill>
                  <a:srgbClr val="6B7280"/>
                </a:solidFill>
                <a:latin typeface="Noto Sans SC"/>
                <a:ea typeface="Noto Sans SC"/>
                <a:cs typeface="Noto Sans SC"/>
                <a:sym typeface="Noto Sans SC"/>
              </a:rPr>
              <a:t>核心 CRUD 命令语法完全遵循标准 SQL</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B7280"/>
                </a:solidFill>
                <a:latin typeface="Noto Sans SC"/>
                <a:ea typeface="Noto Sans SC"/>
                <a:cs typeface="Noto Sans SC"/>
                <a:sym typeface="Noto Sans SC"/>
              </a:rPr>
              <a:t>无需记忆额外规则</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smtClean="0">
                <a:solidFill>
                  <a:srgbClr val="1F2937"/>
                </a:solidFill>
                <a:latin typeface="Noto Sans SC"/>
                <a:ea typeface="Noto Sans SC"/>
                <a:cs typeface="Noto Sans SC"/>
                <a:sym typeface="Noto Sans SC"/>
              </a:rPr>
              <a:t> </a:t>
            </a:r>
            <a:r>
              <a:rPr lang="en-US" sz="3200" b="1" i="0" u="none" strike="noStrike" dirty="0" err="1">
                <a:solidFill>
                  <a:srgbClr val="1F2937"/>
                </a:solidFill>
                <a:latin typeface="Noto Sans SC"/>
                <a:ea typeface="Noto Sans SC"/>
                <a:cs typeface="Noto Sans SC"/>
                <a:sym typeface="Noto Sans SC"/>
              </a:rPr>
              <a:t>实验背景与目标</a:t>
            </a:r>
            <a:endParaRPr lang="en-US" sz="1100" dirty="0"/>
          </a:p>
        </p:txBody>
      </p:sp>
      <p:sp>
        <p:nvSpPr>
          <p:cNvPr id="4" name="AutoShape 4"/>
          <p:cNvSpPr/>
          <p:nvPr/>
        </p:nvSpPr>
        <p:spPr>
          <a:xfrm>
            <a:off x="762000" y="1778000"/>
            <a:ext cx="2603500" cy="4318000"/>
          </a:xfrm>
          <a:prstGeom prst="roundRect">
            <a:avLst>
              <a:gd name="adj" fmla="val 5853"/>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778000"/>
            <a:ext cx="26035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2286000"/>
            <a:ext cx="508000" cy="508000"/>
          </a:xfrm>
          <a:prstGeom prst="rect">
            <a:avLst/>
          </a:prstGeom>
        </p:spPr>
      </p:pic>
      <p:sp>
        <p:nvSpPr>
          <p:cNvPr id="7" name="AutoShape 7"/>
          <p:cNvSpPr/>
          <p:nvPr/>
        </p:nvSpPr>
        <p:spPr>
          <a:xfrm>
            <a:off x="952500" y="3175000"/>
            <a:ext cx="22225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F2937"/>
                </a:solidFill>
                <a:latin typeface="Noto Sans SC"/>
                <a:ea typeface="Noto Sans SC"/>
                <a:cs typeface="Noto Sans SC"/>
                <a:sym typeface="Noto Sans SC"/>
              </a:rPr>
              <a:t>任务一回顾</a:t>
            </a:r>
            <a:endParaRPr lang="en-US" sz="1100"/>
          </a:p>
        </p:txBody>
      </p:sp>
      <p:sp>
        <p:nvSpPr>
          <p:cNvPr id="8" name="AutoShape 8"/>
          <p:cNvSpPr/>
          <p:nvPr/>
        </p:nvSpPr>
        <p:spPr>
          <a:xfrm>
            <a:off x="952500" y="4064000"/>
            <a:ext cx="2222500" cy="1905000"/>
          </a:xfrm>
          <a:prstGeom prst="rect">
            <a:avLst/>
          </a:prstGeom>
          <a:noFill/>
          <a:ln w="12700" cap="flat" cmpd="sng">
            <a:noFill/>
            <a:prstDash val="solid"/>
            <a:round/>
          </a:ln>
        </p:spPr>
        <p:txBody>
          <a:bodyPr vert="horz" wrap="square" lIns="0" tIns="0" rIns="0" bIns="0" rtlCol="0" anchor="ctr" anchorCtr="0"/>
          <a:lstStyle/>
          <a:p>
            <a:pPr indent="0" algn="just">
              <a:lnSpc>
                <a:spcPct val="116666"/>
              </a:lnSpc>
              <a:defRPr/>
            </a:pPr>
            <a:r>
              <a:rPr lang="en-US" sz="1200" b="0" i="0" u="none" strike="noStrike">
                <a:solidFill>
                  <a:srgbClr val="4B5563"/>
                </a:solidFill>
                <a:latin typeface="Noto Sans SC"/>
                <a:ea typeface="Noto Sans SC"/>
                <a:cs typeface="Noto Sans SC"/>
                <a:sym typeface="Noto Sans SC"/>
              </a:rPr>
              <a:t>使用传统关系数据库实现族谱，主要依赖自引用外键和复杂的递归查询（如WITH RECURSIVE），在处理复杂的层级关系和动态查询时显得繁琐且性能受限。</a:t>
            </a:r>
            <a:endParaRPr lang="en-US" sz="1100"/>
          </a:p>
        </p:txBody>
      </p:sp>
      <p:sp>
        <p:nvSpPr>
          <p:cNvPr id="9" name="AutoShape 9"/>
          <p:cNvSpPr/>
          <p:nvPr/>
        </p:nvSpPr>
        <p:spPr>
          <a:xfrm>
            <a:off x="3619500" y="1778000"/>
            <a:ext cx="2603500" cy="4318000"/>
          </a:xfrm>
          <a:prstGeom prst="roundRect">
            <a:avLst>
              <a:gd name="adj" fmla="val 5853"/>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3619500" y="1778000"/>
            <a:ext cx="2603500" cy="762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3873500" y="2286000"/>
            <a:ext cx="508000" cy="508000"/>
          </a:xfrm>
          <a:prstGeom prst="rect">
            <a:avLst/>
          </a:prstGeom>
        </p:spPr>
      </p:pic>
      <p:sp>
        <p:nvSpPr>
          <p:cNvPr id="12" name="AutoShape 12"/>
          <p:cNvSpPr/>
          <p:nvPr/>
        </p:nvSpPr>
        <p:spPr>
          <a:xfrm>
            <a:off x="3810000" y="3175000"/>
            <a:ext cx="22225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F2937"/>
                </a:solidFill>
                <a:latin typeface="Noto Sans SC"/>
                <a:ea typeface="Noto Sans SC"/>
                <a:cs typeface="Noto Sans SC"/>
                <a:sym typeface="Noto Sans SC"/>
              </a:rPr>
              <a:t>任务二目标</a:t>
            </a:r>
            <a:endParaRPr lang="en-US" sz="1100"/>
          </a:p>
        </p:txBody>
      </p:sp>
      <p:sp>
        <p:nvSpPr>
          <p:cNvPr id="13" name="AutoShape 13"/>
          <p:cNvSpPr/>
          <p:nvPr/>
        </p:nvSpPr>
        <p:spPr>
          <a:xfrm>
            <a:off x="3810000" y="4064000"/>
            <a:ext cx="2222500" cy="1905000"/>
          </a:xfrm>
          <a:prstGeom prst="rect">
            <a:avLst/>
          </a:prstGeom>
          <a:noFill/>
          <a:ln w="12700" cap="flat" cmpd="sng">
            <a:noFill/>
            <a:prstDash val="solid"/>
            <a:round/>
          </a:ln>
        </p:spPr>
        <p:txBody>
          <a:bodyPr vert="horz" wrap="square" lIns="0" tIns="0" rIns="0" bIns="0" rtlCol="0" anchor="ctr" anchorCtr="0"/>
          <a:lstStyle/>
          <a:p>
            <a:pPr indent="0" algn="just">
              <a:lnSpc>
                <a:spcPct val="116666"/>
              </a:lnSpc>
              <a:defRPr/>
            </a:pPr>
            <a:r>
              <a:rPr lang="en-US" sz="1200" b="0" i="0" u="none" strike="noStrike">
                <a:solidFill>
                  <a:srgbClr val="4B5563"/>
                </a:solidFill>
                <a:latin typeface="Noto Sans SC"/>
                <a:ea typeface="Noto Sans SC"/>
                <a:cs typeface="Noto Sans SC"/>
                <a:sym typeface="Noto Sans SC"/>
              </a:rPr>
              <a:t>基于Totem对象代理模型，探索代理类在层级数据建模中的独特优势。核心目标是用更直观、更灵活的代理类替代传统的自关联表，从而简化复杂的亲缘关系表达与查询。</a:t>
            </a:r>
            <a:endParaRPr lang="en-US" sz="1100"/>
          </a:p>
        </p:txBody>
      </p:sp>
      <p:sp>
        <p:nvSpPr>
          <p:cNvPr id="14" name="AutoShape 14"/>
          <p:cNvSpPr/>
          <p:nvPr/>
        </p:nvSpPr>
        <p:spPr>
          <a:xfrm>
            <a:off x="6477000" y="1778000"/>
            <a:ext cx="2603500" cy="4318000"/>
          </a:xfrm>
          <a:prstGeom prst="roundRect">
            <a:avLst>
              <a:gd name="adj" fmla="val 5853"/>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6477000" y="1778000"/>
            <a:ext cx="2603500" cy="762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6731000" y="2286000"/>
            <a:ext cx="508000" cy="508000"/>
          </a:xfrm>
          <a:prstGeom prst="rect">
            <a:avLst/>
          </a:prstGeom>
        </p:spPr>
      </p:pic>
      <p:sp>
        <p:nvSpPr>
          <p:cNvPr id="17" name="AutoShape 17"/>
          <p:cNvSpPr/>
          <p:nvPr/>
        </p:nvSpPr>
        <p:spPr>
          <a:xfrm>
            <a:off x="6667500" y="3175000"/>
            <a:ext cx="22225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F2937"/>
                </a:solidFill>
                <a:latin typeface="Noto Sans SC"/>
                <a:ea typeface="Noto Sans SC"/>
                <a:cs typeface="Noto Sans SC"/>
                <a:sym typeface="Noto Sans SC"/>
              </a:rPr>
              <a:t>核心思想</a:t>
            </a:r>
            <a:endParaRPr lang="en-US" sz="1100"/>
          </a:p>
        </p:txBody>
      </p:sp>
      <p:sp>
        <p:nvSpPr>
          <p:cNvPr id="18" name="AutoShape 18"/>
          <p:cNvSpPr/>
          <p:nvPr/>
        </p:nvSpPr>
        <p:spPr>
          <a:xfrm>
            <a:off x="6667500" y="4064000"/>
            <a:ext cx="2222500" cy="1905000"/>
          </a:xfrm>
          <a:prstGeom prst="rect">
            <a:avLst/>
          </a:prstGeom>
          <a:noFill/>
          <a:ln w="12700" cap="flat" cmpd="sng">
            <a:noFill/>
            <a:prstDash val="solid"/>
            <a:round/>
          </a:ln>
        </p:spPr>
        <p:txBody>
          <a:bodyPr vert="horz" wrap="square" lIns="0" tIns="0" rIns="0" bIns="0" rtlCol="0" anchor="ctr" anchorCtr="0"/>
          <a:lstStyle/>
          <a:p>
            <a:pPr indent="0" algn="just">
              <a:lnSpc>
                <a:spcPct val="116666"/>
              </a:lnSpc>
              <a:defRPr/>
            </a:pPr>
            <a:r>
              <a:rPr lang="en-US" sz="1200" b="0" i="0" u="none" strike="noStrike">
                <a:solidFill>
                  <a:srgbClr val="4B5563"/>
                </a:solidFill>
                <a:latin typeface="Noto Sans SC"/>
                <a:ea typeface="Noto Sans SC"/>
                <a:cs typeface="Noto Sans SC"/>
                <a:sym typeface="Noto Sans SC"/>
              </a:rPr>
              <a:t>将族谱中的“人”、“父子关系”、“配偶关系”等抽象概念，通过Totem的代理类进行建模，实现数据逻辑与业务逻辑的高度统一，降低开发复杂度。</a:t>
            </a:r>
            <a:endParaRPr lang="en-US" sz="1100"/>
          </a:p>
        </p:txBody>
      </p:sp>
      <p:sp>
        <p:nvSpPr>
          <p:cNvPr id="19" name="AutoShape 19"/>
          <p:cNvSpPr/>
          <p:nvPr/>
        </p:nvSpPr>
        <p:spPr>
          <a:xfrm>
            <a:off x="9334500" y="1778000"/>
            <a:ext cx="2603500" cy="4318000"/>
          </a:xfrm>
          <a:prstGeom prst="roundRect">
            <a:avLst>
              <a:gd name="adj" fmla="val 5853"/>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9334500" y="1778000"/>
            <a:ext cx="2603500" cy="76200"/>
          </a:xfrm>
          <a:prstGeom prst="roundRect">
            <a:avLst>
              <a:gd name="adj" fmla="val 0"/>
            </a:avLst>
          </a:prstGeom>
          <a:solidFill>
            <a:srgbClr val="EC48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9588500" y="2286000"/>
            <a:ext cx="508000" cy="508000"/>
          </a:xfrm>
          <a:prstGeom prst="rect">
            <a:avLst/>
          </a:prstGeom>
        </p:spPr>
      </p:pic>
      <p:sp>
        <p:nvSpPr>
          <p:cNvPr id="22" name="AutoShape 22"/>
          <p:cNvSpPr/>
          <p:nvPr/>
        </p:nvSpPr>
        <p:spPr>
          <a:xfrm>
            <a:off x="9525000" y="3175000"/>
            <a:ext cx="22225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F2937"/>
                </a:solidFill>
                <a:latin typeface="Noto Sans SC"/>
                <a:ea typeface="Noto Sans SC"/>
                <a:cs typeface="Noto Sans SC"/>
                <a:sym typeface="Noto Sans SC"/>
              </a:rPr>
              <a:t>预期成果</a:t>
            </a:r>
            <a:endParaRPr lang="en-US" sz="1100"/>
          </a:p>
        </p:txBody>
      </p:sp>
      <p:sp>
        <p:nvSpPr>
          <p:cNvPr id="23" name="AutoShape 23"/>
          <p:cNvSpPr/>
          <p:nvPr/>
        </p:nvSpPr>
        <p:spPr>
          <a:xfrm>
            <a:off x="9525000" y="4064000"/>
            <a:ext cx="2222500" cy="1905000"/>
          </a:xfrm>
          <a:prstGeom prst="rect">
            <a:avLst/>
          </a:prstGeom>
          <a:noFill/>
          <a:ln w="12700" cap="flat" cmpd="sng">
            <a:noFill/>
            <a:prstDash val="solid"/>
            <a:round/>
          </a:ln>
        </p:spPr>
        <p:txBody>
          <a:bodyPr vert="horz" wrap="square" lIns="0" tIns="0" rIns="0" bIns="0" rtlCol="0" anchor="ctr" anchorCtr="0"/>
          <a:lstStyle/>
          <a:p>
            <a:pPr indent="0" algn="just">
              <a:lnSpc>
                <a:spcPct val="116666"/>
              </a:lnSpc>
              <a:defRPr/>
            </a:pPr>
            <a:r>
              <a:rPr lang="en-US" sz="1200" b="0" i="0" u="none" strike="noStrike">
                <a:solidFill>
                  <a:srgbClr val="4B5563"/>
                </a:solidFill>
                <a:latin typeface="Noto Sans SC"/>
                <a:ea typeface="Noto Sans SC"/>
                <a:cs typeface="Noto Sans SC"/>
                <a:sym typeface="Noto Sans SC"/>
              </a:rPr>
              <a:t>通过本次实验，验证代理模型在处理层级数据（如族谱）时的优越性，产出一套完整的建模方案和可运行的应用原型。</a:t>
            </a:r>
            <a:endParaRPr lang="en-US" sz="1100"/>
          </a:p>
        </p:txBody>
      </p:sp>
    </p:spTree>
    <p:extLst>
      <p:ext uri="{BB962C8B-B14F-4D97-AF65-F5344CB8AC3E}">
        <p14:creationId xmlns:p14="http://schemas.microsoft.com/office/powerpoint/2010/main" val="19249939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dirty="0" err="1" smtClean="0">
                <a:solidFill>
                  <a:srgbClr val="1F2937"/>
                </a:solidFill>
                <a:latin typeface="Noto Sans SC"/>
                <a:ea typeface="Noto Sans SC"/>
                <a:cs typeface="Noto Sans SC"/>
                <a:sym typeface="Noto Sans SC"/>
              </a:rPr>
              <a:t>为何选择</a:t>
            </a:r>
            <a:r>
              <a:rPr lang="en-US" sz="3200" b="1" i="0" u="none" strike="noStrike" dirty="0" err="1">
                <a:solidFill>
                  <a:srgbClr val="1F2937"/>
                </a:solidFill>
                <a:latin typeface="Noto Sans SC"/>
                <a:ea typeface="Noto Sans SC"/>
                <a:cs typeface="Noto Sans SC"/>
                <a:sym typeface="Noto Sans SC"/>
              </a:rPr>
              <a:t>Totem构建族谱系统</a:t>
            </a:r>
            <a:r>
              <a:rPr lang="en-US" sz="3200" b="1" i="0" u="none" strike="noStrike" dirty="0">
                <a:solidFill>
                  <a:srgbClr val="1F2937"/>
                </a:solidFill>
                <a:latin typeface="Noto Sans SC"/>
                <a:ea typeface="Noto Sans SC"/>
                <a:cs typeface="Noto Sans SC"/>
                <a:sym typeface="Noto Sans SC"/>
              </a:rPr>
              <a:t>？</a:t>
            </a:r>
            <a:endParaRPr lang="en-US" sz="1100" dirty="0"/>
          </a:p>
        </p:txBody>
      </p:sp>
      <p:sp>
        <p:nvSpPr>
          <p:cNvPr id="4" name="AutoShape 4"/>
          <p:cNvSpPr/>
          <p:nvPr/>
        </p:nvSpPr>
        <p:spPr>
          <a:xfrm>
            <a:off x="762000" y="1778000"/>
            <a:ext cx="2540000" cy="4318000"/>
          </a:xfrm>
          <a:prstGeom prst="roundRect">
            <a:avLst>
              <a:gd name="adj" fmla="val 6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778000"/>
            <a:ext cx="25400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1016000" y="2286000"/>
            <a:ext cx="457200" cy="457200"/>
          </a:xfrm>
          <a:prstGeom prst="rect">
            <a:avLst/>
          </a:prstGeom>
        </p:spPr>
      </p:pic>
      <p:sp>
        <p:nvSpPr>
          <p:cNvPr id="7" name="AutoShape 7"/>
          <p:cNvSpPr/>
          <p:nvPr/>
        </p:nvSpPr>
        <p:spPr>
          <a:xfrm>
            <a:off x="889000" y="3048000"/>
            <a:ext cx="2286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F2937"/>
                </a:solidFill>
                <a:latin typeface="Noto Sans SC"/>
                <a:ea typeface="Noto Sans SC"/>
                <a:cs typeface="Noto Sans SC"/>
                <a:sym typeface="Noto Sans SC"/>
              </a:rPr>
              <a:t>应对复杂关系</a:t>
            </a:r>
            <a:endParaRPr lang="en-US" sz="1100"/>
          </a:p>
        </p:txBody>
      </p:sp>
      <p:sp>
        <p:nvSpPr>
          <p:cNvPr id="8" name="AutoShape 8"/>
          <p:cNvSpPr/>
          <p:nvPr/>
        </p:nvSpPr>
        <p:spPr>
          <a:xfrm>
            <a:off x="889000" y="3937000"/>
            <a:ext cx="2286000" cy="1905000"/>
          </a:xfrm>
          <a:prstGeom prst="roundRect">
            <a:avLst>
              <a:gd name="adj" fmla="val 0"/>
            </a:avLst>
          </a:prstGeom>
          <a:noFill/>
          <a:ln w="25400" cap="flat" cmpd="sng">
            <a:noFill/>
            <a:prstDash val="solid"/>
            <a:round/>
          </a:ln>
        </p:spPr>
        <p:txBody>
          <a:bodyPr vert="horz" wrap="square" lIns="0" tIns="0" rIns="0" bIns="0" rtlCol="0" anchor="ctr" anchorCtr="0"/>
          <a:lstStyle/>
          <a:p>
            <a:pPr indent="0" algn="just">
              <a:lnSpc>
                <a:spcPct val="116666"/>
              </a:lnSpc>
              <a:defRPr/>
            </a:pPr>
            <a:r>
              <a:rPr lang="en-US" sz="1200" b="0" i="0" u="none" strike="noStrike">
                <a:solidFill>
                  <a:srgbClr val="4B5563"/>
                </a:solidFill>
                <a:latin typeface="Noto Sans SC"/>
                <a:ea typeface="Noto Sans SC"/>
                <a:cs typeface="Noto Sans SC"/>
                <a:sym typeface="Noto Sans SC"/>
              </a:rPr>
              <a:t>族谱包含父子、配偶、祖先、后代等多种复杂关系。传统数据库需多层自关联和复杂递归查询，而Totem的代理模型可将关系直接建模为代理类，逻辑更清晰直观。</a:t>
            </a:r>
            <a:endParaRPr lang="en-US" sz="1100"/>
          </a:p>
        </p:txBody>
      </p:sp>
      <p:sp>
        <p:nvSpPr>
          <p:cNvPr id="9" name="AutoShape 9"/>
          <p:cNvSpPr/>
          <p:nvPr/>
        </p:nvSpPr>
        <p:spPr>
          <a:xfrm>
            <a:off x="3556000" y="1778000"/>
            <a:ext cx="2540000" cy="4318000"/>
          </a:xfrm>
          <a:prstGeom prst="roundRect">
            <a:avLst>
              <a:gd name="adj" fmla="val 6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3556000" y="1778000"/>
            <a:ext cx="25400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p:blipFill>
        <p:spPr>
          <a:xfrm>
            <a:off x="3810000" y="2286000"/>
            <a:ext cx="457200" cy="457200"/>
          </a:xfrm>
          <a:prstGeom prst="rect">
            <a:avLst/>
          </a:prstGeom>
        </p:spPr>
      </p:pic>
      <p:sp>
        <p:nvSpPr>
          <p:cNvPr id="12" name="AutoShape 12"/>
          <p:cNvSpPr/>
          <p:nvPr/>
        </p:nvSpPr>
        <p:spPr>
          <a:xfrm>
            <a:off x="3683000" y="3048000"/>
            <a:ext cx="2286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F2937"/>
                </a:solidFill>
                <a:latin typeface="Noto Sans SC"/>
                <a:ea typeface="Noto Sans SC"/>
                <a:cs typeface="Noto Sans SC"/>
                <a:sym typeface="Noto Sans SC"/>
              </a:rPr>
              <a:t>动态视图与角色</a:t>
            </a:r>
            <a:endParaRPr lang="en-US" sz="1100"/>
          </a:p>
        </p:txBody>
      </p:sp>
      <p:sp>
        <p:nvSpPr>
          <p:cNvPr id="13" name="AutoShape 13"/>
          <p:cNvSpPr/>
          <p:nvPr/>
        </p:nvSpPr>
        <p:spPr>
          <a:xfrm>
            <a:off x="3683000" y="3937000"/>
            <a:ext cx="2286000" cy="1905000"/>
          </a:xfrm>
          <a:prstGeom prst="roundRect">
            <a:avLst>
              <a:gd name="adj" fmla="val 0"/>
            </a:avLst>
          </a:prstGeom>
          <a:noFill/>
          <a:ln w="25400" cap="flat" cmpd="sng">
            <a:noFill/>
            <a:prstDash val="solid"/>
            <a:round/>
          </a:ln>
        </p:spPr>
        <p:txBody>
          <a:bodyPr vert="horz" wrap="square" lIns="0" tIns="0" rIns="0" bIns="0" rtlCol="0" anchor="ctr" anchorCtr="0"/>
          <a:lstStyle/>
          <a:p>
            <a:pPr indent="0" algn="just">
              <a:lnSpc>
                <a:spcPct val="116666"/>
              </a:lnSpc>
              <a:defRPr/>
            </a:pPr>
            <a:r>
              <a:rPr lang="en-US" sz="1200" b="0" i="0" u="none" strike="noStrike">
                <a:solidFill>
                  <a:srgbClr val="4B5563"/>
                </a:solidFill>
                <a:latin typeface="Noto Sans SC"/>
                <a:ea typeface="Noto Sans SC"/>
                <a:cs typeface="Noto Sans SC"/>
                <a:sym typeface="Noto Sans SC"/>
              </a:rPr>
              <a:t>族谱常需动态生成祖先树、后代列表等视图，或为成员赋予特定家庭角色。Totem的代理类可动态生成这些视图和角色，无需修改底层表结构，极大提升了业务的灵活性。</a:t>
            </a:r>
            <a:endParaRPr lang="en-US" sz="1100"/>
          </a:p>
        </p:txBody>
      </p:sp>
      <p:sp>
        <p:nvSpPr>
          <p:cNvPr id="14" name="AutoShape 14"/>
          <p:cNvSpPr/>
          <p:nvPr/>
        </p:nvSpPr>
        <p:spPr>
          <a:xfrm>
            <a:off x="6350000" y="1778000"/>
            <a:ext cx="2540000" cy="4318000"/>
          </a:xfrm>
          <a:prstGeom prst="roundRect">
            <a:avLst>
              <a:gd name="adj" fmla="val 6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6350000" y="1778000"/>
            <a:ext cx="25400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6604000" y="2286000"/>
            <a:ext cx="457200" cy="457200"/>
          </a:xfrm>
          <a:prstGeom prst="rect">
            <a:avLst/>
          </a:prstGeom>
        </p:spPr>
      </p:pic>
      <p:sp>
        <p:nvSpPr>
          <p:cNvPr id="17" name="AutoShape 17"/>
          <p:cNvSpPr/>
          <p:nvPr/>
        </p:nvSpPr>
        <p:spPr>
          <a:xfrm>
            <a:off x="6477000" y="3048000"/>
            <a:ext cx="2286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F2937"/>
                </a:solidFill>
                <a:latin typeface="Noto Sans SC"/>
                <a:ea typeface="Noto Sans SC"/>
                <a:cs typeface="Noto Sans SC"/>
                <a:sym typeface="Noto Sans SC"/>
              </a:rPr>
              <a:t>简化开发与维护</a:t>
            </a:r>
            <a:endParaRPr lang="en-US" sz="1100"/>
          </a:p>
        </p:txBody>
      </p:sp>
      <p:sp>
        <p:nvSpPr>
          <p:cNvPr id="18" name="AutoShape 18"/>
          <p:cNvSpPr/>
          <p:nvPr/>
        </p:nvSpPr>
        <p:spPr>
          <a:xfrm>
            <a:off x="6477000" y="3937000"/>
            <a:ext cx="2286000" cy="1905000"/>
          </a:xfrm>
          <a:prstGeom prst="roundRect">
            <a:avLst>
              <a:gd name="adj" fmla="val 0"/>
            </a:avLst>
          </a:prstGeom>
          <a:noFill/>
          <a:ln w="25400" cap="flat" cmpd="sng">
            <a:noFill/>
            <a:prstDash val="solid"/>
            <a:round/>
          </a:ln>
        </p:spPr>
        <p:txBody>
          <a:bodyPr vert="horz" wrap="square" lIns="0" tIns="0" rIns="0" bIns="0" rtlCol="0" anchor="ctr" anchorCtr="0"/>
          <a:lstStyle/>
          <a:p>
            <a:pPr indent="0" algn="just">
              <a:lnSpc>
                <a:spcPct val="116666"/>
              </a:lnSpc>
              <a:defRPr/>
            </a:pPr>
            <a:r>
              <a:rPr lang="en-US" sz="1200" b="0" i="0" u="none" strike="noStrike">
                <a:solidFill>
                  <a:srgbClr val="4B5563"/>
                </a:solidFill>
                <a:latin typeface="Noto Sans SC"/>
                <a:ea typeface="Noto Sans SC"/>
                <a:cs typeface="Noto Sans SC"/>
                <a:sym typeface="Noto Sans SC"/>
              </a:rPr>
              <a:t>大量业务逻辑可在数据模型层通过代理类直接实现，避免了在应用层编写复杂的SQL语句。这使得整体代码结构更简洁，显著降低了系统的开发和长期维护成本。</a:t>
            </a:r>
            <a:endParaRPr lang="en-US" sz="1100"/>
          </a:p>
        </p:txBody>
      </p:sp>
      <p:sp>
        <p:nvSpPr>
          <p:cNvPr id="19" name="AutoShape 19"/>
          <p:cNvSpPr/>
          <p:nvPr/>
        </p:nvSpPr>
        <p:spPr>
          <a:xfrm>
            <a:off x="9017000" y="1778000"/>
            <a:ext cx="2540000" cy="4318000"/>
          </a:xfrm>
          <a:prstGeom prst="roundRect">
            <a:avLst>
              <a:gd name="adj" fmla="val 6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9017000" y="1778000"/>
            <a:ext cx="25400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p:blipFill>
        <p:spPr>
          <a:xfrm>
            <a:off x="9271000" y="2286000"/>
            <a:ext cx="457200" cy="457200"/>
          </a:xfrm>
          <a:prstGeom prst="rect">
            <a:avLst/>
          </a:prstGeom>
        </p:spPr>
      </p:pic>
      <p:sp>
        <p:nvSpPr>
          <p:cNvPr id="22" name="AutoShape 22"/>
          <p:cNvSpPr/>
          <p:nvPr/>
        </p:nvSpPr>
        <p:spPr>
          <a:xfrm>
            <a:off x="9144000" y="3048000"/>
            <a:ext cx="2286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F2937"/>
                </a:solidFill>
                <a:latin typeface="Noto Sans SC"/>
                <a:ea typeface="Noto Sans SC"/>
                <a:cs typeface="Noto Sans SC"/>
                <a:sym typeface="Noto Sans SC"/>
              </a:rPr>
              <a:t>性能与扩展性</a:t>
            </a:r>
            <a:endParaRPr lang="en-US" sz="1100"/>
          </a:p>
        </p:txBody>
      </p:sp>
      <p:sp>
        <p:nvSpPr>
          <p:cNvPr id="23" name="AutoShape 23"/>
          <p:cNvSpPr/>
          <p:nvPr/>
        </p:nvSpPr>
        <p:spPr>
          <a:xfrm>
            <a:off x="9144000" y="3937000"/>
            <a:ext cx="2286000" cy="1905000"/>
          </a:xfrm>
          <a:prstGeom prst="roundRect">
            <a:avLst>
              <a:gd name="adj" fmla="val 0"/>
            </a:avLst>
          </a:prstGeom>
          <a:noFill/>
          <a:ln w="25400" cap="flat" cmpd="sng">
            <a:noFill/>
            <a:prstDash val="solid"/>
            <a:round/>
          </a:ln>
        </p:spPr>
        <p:txBody>
          <a:bodyPr vert="horz" wrap="square" lIns="0" tIns="0" rIns="0" bIns="0" rtlCol="0" anchor="ctr" anchorCtr="0"/>
          <a:lstStyle/>
          <a:p>
            <a:pPr indent="0" algn="just">
              <a:lnSpc>
                <a:spcPct val="116666"/>
              </a:lnSpc>
              <a:defRPr/>
            </a:pPr>
            <a:r>
              <a:rPr lang="en-US" sz="1200" b="0" i="0" u="none" strike="noStrike">
                <a:solidFill>
                  <a:srgbClr val="4B5563"/>
                </a:solidFill>
                <a:latin typeface="Noto Sans SC"/>
                <a:ea typeface="Noto Sans SC"/>
                <a:cs typeface="Noto Sans SC"/>
                <a:sym typeface="Noto Sans SC"/>
              </a:rPr>
              <a:t>代理模型可通过预定义逻辑优化层级查询路径，保障查询性能。同时，增加新亲属关系或属性时，只需调整代理类，无需重构底层表，系统扩展性远优于传统模式。</a:t>
            </a:r>
            <a:endParaRPr lang="en-US" sz="1100"/>
          </a:p>
        </p:txBody>
      </p:sp>
      <p:pic>
        <p:nvPicPr>
          <p:cNvPr id="24" name="Picture 24"/>
          <p:cNvPicPr>
            <a:picLocks noChangeAspect="1"/>
          </p:cNvPicPr>
          <p:nvPr/>
        </p:nvPicPr>
        <p:blipFill>
          <a:blip r:embed="rId11"/>
          <a:stretch>
            <a:fillRect/>
          </a:stretch>
        </p:blipFill>
        <p:spPr>
          <a:xfrm>
            <a:off x="10668000" y="6190112"/>
            <a:ext cx="1524000" cy="667888"/>
          </a:xfrm>
          <a:prstGeom prst="rect">
            <a:avLst/>
          </a:prstGeom>
        </p:spPr>
      </p:pic>
    </p:spTree>
    <p:extLst>
      <p:ext uri="{BB962C8B-B14F-4D97-AF65-F5344CB8AC3E}">
        <p14:creationId xmlns:p14="http://schemas.microsoft.com/office/powerpoint/2010/main" val="1975937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smtClean="0">
                <a:solidFill>
                  <a:srgbClr val="1F2937"/>
                </a:solidFill>
                <a:latin typeface="Noto Sans SC"/>
                <a:ea typeface="Noto Sans SC"/>
                <a:cs typeface="Noto Sans SC"/>
                <a:sym typeface="Noto Sans SC"/>
              </a:rPr>
              <a:t>代理类建模建议</a:t>
            </a:r>
            <a:endParaRPr lang="en-US" sz="1100" dirty="0"/>
          </a:p>
        </p:txBody>
      </p:sp>
      <p:sp>
        <p:nvSpPr>
          <p:cNvPr id="4" name="AutoShape 4"/>
          <p:cNvSpPr/>
          <p:nvPr/>
        </p:nvSpPr>
        <p:spPr>
          <a:xfrm>
            <a:off x="762000" y="1651000"/>
            <a:ext cx="5207000" cy="2286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2133600"/>
            <a:ext cx="1016000" cy="1016000"/>
          </a:xfrm>
          <a:prstGeom prst="rect">
            <a:avLst/>
          </a:prstGeom>
        </p:spPr>
      </p:pic>
      <p:sp>
        <p:nvSpPr>
          <p:cNvPr id="6" name="AutoShape 6"/>
          <p:cNvSpPr/>
          <p:nvPr/>
        </p:nvSpPr>
        <p:spPr>
          <a:xfrm>
            <a:off x="2286000" y="1905000"/>
            <a:ext cx="3429000" cy="177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a:solidFill>
                  <a:srgbClr val="1F2937"/>
                </a:solidFill>
                <a:latin typeface="Noto Sans SC"/>
                <a:ea typeface="Noto Sans SC"/>
                <a:cs typeface="Noto Sans SC"/>
                <a:sym typeface="Noto Sans SC"/>
              </a:rPr>
              <a:t>成员基本类</a:t>
            </a:r>
            <a:r>
              <a:rPr lang="en-US" sz="1400" b="0" i="0" u="none" strike="noStrike">
                <a:solidFill>
                  <a:srgbClr val="3B82F6"/>
                </a:solidFill>
                <a:latin typeface="Noto Sans SC"/>
                <a:ea typeface="Noto Sans SC"/>
                <a:cs typeface="Noto Sans SC"/>
                <a:sym typeface="Noto Sans SC"/>
              </a:rPr>
              <a:t>| BASIC CLASS</a:t>
            </a:r>
            <a:endParaRPr lang="en-US" sz="1100"/>
          </a:p>
          <a:p>
            <a:pPr indent="0" algn="l">
              <a:lnSpc>
                <a:spcPct val="108333"/>
              </a:lnSpc>
              <a:spcBef>
                <a:spcPts val="1000"/>
              </a:spcBef>
            </a:pPr>
            <a:r>
              <a:rPr lang="en-US" sz="1200" b="0" i="0" u="none" strike="noStrike">
                <a:solidFill>
                  <a:srgbClr val="4B5563"/>
                </a:solidFill>
                <a:latin typeface="Noto Sans SC"/>
                <a:ea typeface="Noto Sans SC"/>
                <a:cs typeface="Noto Sans SC"/>
                <a:sym typeface="Noto Sans SC"/>
              </a:rPr>
              <a:t>创建一个基础类来存储家族成员的原始属性，如姓名、性别、出生年份等。这是所有其他代理类的数据基础。</a:t>
            </a:r>
          </a:p>
        </p:txBody>
      </p:sp>
      <p:sp>
        <p:nvSpPr>
          <p:cNvPr id="7" name="AutoShape 7"/>
          <p:cNvSpPr/>
          <p:nvPr/>
        </p:nvSpPr>
        <p:spPr>
          <a:xfrm>
            <a:off x="6223000" y="1651000"/>
            <a:ext cx="5207000" cy="2286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477000" y="2133600"/>
            <a:ext cx="1016000" cy="1016000"/>
          </a:xfrm>
          <a:prstGeom prst="rect">
            <a:avLst/>
          </a:prstGeom>
        </p:spPr>
      </p:pic>
      <p:sp>
        <p:nvSpPr>
          <p:cNvPr id="9" name="AutoShape 9"/>
          <p:cNvSpPr/>
          <p:nvPr/>
        </p:nvSpPr>
        <p:spPr>
          <a:xfrm>
            <a:off x="7747000" y="1905000"/>
            <a:ext cx="3429000" cy="177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dirty="0" err="1" smtClean="0">
                <a:solidFill>
                  <a:srgbClr val="1F2937"/>
                </a:solidFill>
                <a:latin typeface="Noto Sans SC"/>
                <a:ea typeface="Noto Sans SC"/>
                <a:cs typeface="Noto Sans SC"/>
                <a:sym typeface="Noto Sans SC"/>
              </a:rPr>
              <a:t>父子</a:t>
            </a:r>
            <a:r>
              <a:rPr lang="en-US" altLang="zh-CN" sz="2000" b="1" i="0" u="none" strike="noStrike" dirty="0" smtClean="0">
                <a:solidFill>
                  <a:srgbClr val="1F2937"/>
                </a:solidFill>
                <a:latin typeface="Noto Sans SC"/>
                <a:ea typeface="Noto Sans SC"/>
                <a:cs typeface="Noto Sans SC"/>
                <a:sym typeface="Noto Sans SC"/>
              </a:rPr>
              <a:t>/</a:t>
            </a:r>
            <a:r>
              <a:rPr lang="zh-CN" altLang="en-US" sz="2000" b="1" i="0" u="none" strike="noStrike" dirty="0" smtClean="0">
                <a:solidFill>
                  <a:srgbClr val="1F2937"/>
                </a:solidFill>
                <a:latin typeface="Noto Sans SC"/>
                <a:ea typeface="Noto Sans SC"/>
                <a:cs typeface="Noto Sans SC"/>
                <a:sym typeface="Noto Sans SC"/>
              </a:rPr>
              <a:t>母子</a:t>
            </a:r>
            <a:r>
              <a:rPr lang="en-US" sz="2000" b="1" i="0" u="none" strike="noStrike" dirty="0" err="1" smtClean="0">
                <a:solidFill>
                  <a:srgbClr val="1F2937"/>
                </a:solidFill>
                <a:latin typeface="Noto Sans SC"/>
                <a:ea typeface="Noto Sans SC"/>
                <a:cs typeface="Noto Sans SC"/>
                <a:sym typeface="Noto Sans SC"/>
              </a:rPr>
              <a:t>关系代理类</a:t>
            </a:r>
            <a:r>
              <a:rPr lang="en-US" sz="1400" b="0" i="0" u="none" strike="noStrike" dirty="0">
                <a:solidFill>
                  <a:srgbClr val="10B981"/>
                </a:solidFill>
                <a:latin typeface="Noto Sans SC"/>
                <a:ea typeface="Noto Sans SC"/>
                <a:cs typeface="Noto Sans SC"/>
                <a:sym typeface="Noto Sans SC"/>
              </a:rPr>
              <a:t>| PARENT-CHILD</a:t>
            </a:r>
            <a:endParaRPr lang="en-US" sz="1100" dirty="0"/>
          </a:p>
          <a:p>
            <a:pPr>
              <a:lnSpc>
                <a:spcPct val="108333"/>
              </a:lnSpc>
              <a:spcBef>
                <a:spcPts val="1000"/>
              </a:spcBef>
            </a:pPr>
            <a:r>
              <a:rPr lang="zh-CN" altLang="en-US" sz="1200" dirty="0" smtClean="0">
                <a:solidFill>
                  <a:srgbClr val="4B5563"/>
                </a:solidFill>
                <a:latin typeface="Noto Sans SC"/>
                <a:ea typeface="Noto Sans SC"/>
                <a:cs typeface="Noto Sans SC"/>
                <a:sym typeface="Noto Sans SC"/>
              </a:rPr>
              <a:t>从</a:t>
            </a:r>
            <a:r>
              <a:rPr lang="zh-CN" altLang="en-US" sz="1200" dirty="0">
                <a:solidFill>
                  <a:srgbClr val="4B5563"/>
                </a:solidFill>
                <a:latin typeface="Noto Sans SC"/>
                <a:ea typeface="Noto Sans SC"/>
                <a:cs typeface="Noto Sans SC"/>
                <a:sym typeface="Noto Sans SC"/>
              </a:rPr>
              <a:t>成员基本类中筛选出特定角色（如性别为男且至少有一个子女）的人物，为其创建代理对象。每个源对象对应一个代理对象，用于提供特定上下文的快捷访问。</a:t>
            </a:r>
            <a:endParaRPr lang="en-US" sz="1200" b="0" i="0" u="none" strike="noStrike" dirty="0">
              <a:solidFill>
                <a:srgbClr val="4B5563"/>
              </a:solidFill>
              <a:latin typeface="Noto Sans SC"/>
              <a:ea typeface="Noto Sans SC"/>
              <a:cs typeface="Noto Sans SC"/>
              <a:sym typeface="Noto Sans SC"/>
            </a:endParaRPr>
          </a:p>
        </p:txBody>
      </p:sp>
      <p:sp>
        <p:nvSpPr>
          <p:cNvPr id="10" name="AutoShape 10"/>
          <p:cNvSpPr/>
          <p:nvPr/>
        </p:nvSpPr>
        <p:spPr>
          <a:xfrm>
            <a:off x="762000" y="4191000"/>
            <a:ext cx="5207000" cy="2286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1016000" y="4673600"/>
            <a:ext cx="1016000" cy="1016000"/>
          </a:xfrm>
          <a:prstGeom prst="rect">
            <a:avLst/>
          </a:prstGeom>
        </p:spPr>
      </p:pic>
      <p:sp>
        <p:nvSpPr>
          <p:cNvPr id="12" name="AutoShape 12"/>
          <p:cNvSpPr/>
          <p:nvPr/>
        </p:nvSpPr>
        <p:spPr>
          <a:xfrm>
            <a:off x="2286000" y="4445000"/>
            <a:ext cx="3429000" cy="177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dirty="0" err="1">
                <a:solidFill>
                  <a:srgbClr val="1F2937"/>
                </a:solidFill>
                <a:latin typeface="Noto Sans SC"/>
                <a:ea typeface="Noto Sans SC"/>
                <a:cs typeface="Noto Sans SC"/>
                <a:sym typeface="Noto Sans SC"/>
              </a:rPr>
              <a:t>配偶关系代理类</a:t>
            </a:r>
            <a:r>
              <a:rPr lang="en-US" sz="1400" b="0" i="0" u="none" strike="noStrike" dirty="0">
                <a:solidFill>
                  <a:srgbClr val="F59E0B"/>
                </a:solidFill>
                <a:latin typeface="Noto Sans SC"/>
                <a:ea typeface="Noto Sans SC"/>
                <a:cs typeface="Noto Sans SC"/>
                <a:sym typeface="Noto Sans SC"/>
              </a:rPr>
              <a:t>| SPOUSE RELATION</a:t>
            </a:r>
            <a:endParaRPr lang="en-US" sz="1100" dirty="0"/>
          </a:p>
          <a:p>
            <a:pPr indent="0" algn="l">
              <a:lnSpc>
                <a:spcPct val="108333"/>
              </a:lnSpc>
              <a:spcBef>
                <a:spcPts val="1000"/>
              </a:spcBef>
            </a:pPr>
            <a:r>
              <a:rPr lang="en-US" sz="1200" b="0" i="0" u="none" strike="noStrike" dirty="0">
                <a:solidFill>
                  <a:srgbClr val="4B5563"/>
                </a:solidFill>
                <a:latin typeface="Noto Sans SC"/>
                <a:ea typeface="Noto Sans SC"/>
                <a:cs typeface="Noto Sans SC"/>
                <a:sym typeface="Noto Sans SC"/>
              </a:rPr>
              <a:t>利用Join代理将两个性别不同的成员连接成“</a:t>
            </a:r>
            <a:r>
              <a:rPr lang="en-US" sz="1200" b="0" i="0" u="none" strike="noStrike" dirty="0" err="1">
                <a:solidFill>
                  <a:srgbClr val="4B5563"/>
                </a:solidFill>
                <a:latin typeface="Noto Sans SC"/>
                <a:ea typeface="Noto Sans SC"/>
                <a:cs typeface="Noto Sans SC"/>
                <a:sym typeface="Noto Sans SC"/>
              </a:rPr>
              <a:t>夫妻对</a:t>
            </a:r>
            <a:r>
              <a:rPr lang="en-US" sz="1200" b="0" i="0" u="none" strike="noStrike" dirty="0">
                <a:solidFill>
                  <a:srgbClr val="4B5563"/>
                </a:solidFill>
                <a:latin typeface="Noto Sans SC"/>
                <a:ea typeface="Noto Sans SC"/>
                <a:cs typeface="Noto Sans SC"/>
                <a:sym typeface="Noto Sans SC"/>
              </a:rPr>
              <a:t>”，</a:t>
            </a:r>
            <a:r>
              <a:rPr lang="en-US" sz="1200" b="0" i="0" u="none" strike="noStrike" dirty="0" err="1">
                <a:solidFill>
                  <a:srgbClr val="4B5563"/>
                </a:solidFill>
                <a:latin typeface="Noto Sans SC"/>
                <a:ea typeface="Noto Sans SC"/>
                <a:cs typeface="Noto Sans SC"/>
                <a:sym typeface="Noto Sans SC"/>
              </a:rPr>
              <a:t>清晰地表示婚姻关系，便于后续进行家庭单位的查询</a:t>
            </a:r>
            <a:r>
              <a:rPr lang="en-US" sz="1200" b="0" i="0" u="none" strike="noStrike" dirty="0">
                <a:solidFill>
                  <a:srgbClr val="4B5563"/>
                </a:solidFill>
                <a:latin typeface="Noto Sans SC"/>
                <a:ea typeface="Noto Sans SC"/>
                <a:cs typeface="Noto Sans SC"/>
                <a:sym typeface="Noto Sans SC"/>
              </a:rPr>
              <a:t>。</a:t>
            </a:r>
          </a:p>
        </p:txBody>
      </p:sp>
      <p:sp>
        <p:nvSpPr>
          <p:cNvPr id="13" name="AutoShape 13"/>
          <p:cNvSpPr/>
          <p:nvPr/>
        </p:nvSpPr>
        <p:spPr>
          <a:xfrm>
            <a:off x="6223000" y="4191000"/>
            <a:ext cx="5207000" cy="2286000"/>
          </a:xfrm>
          <a:prstGeom prst="roundRect">
            <a:avLst>
              <a:gd name="adj" fmla="val 666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6477000" y="4673600"/>
            <a:ext cx="1016000" cy="1016000"/>
          </a:xfrm>
          <a:prstGeom prst="rect">
            <a:avLst/>
          </a:prstGeom>
        </p:spPr>
      </p:pic>
      <p:sp>
        <p:nvSpPr>
          <p:cNvPr id="15" name="AutoShape 15"/>
          <p:cNvSpPr/>
          <p:nvPr/>
        </p:nvSpPr>
        <p:spPr>
          <a:xfrm>
            <a:off x="7747000" y="4445000"/>
            <a:ext cx="3429000" cy="177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dirty="0" err="1">
                <a:solidFill>
                  <a:srgbClr val="1F2937"/>
                </a:solidFill>
                <a:latin typeface="Noto Sans SC"/>
                <a:ea typeface="Noto Sans SC"/>
                <a:cs typeface="Noto Sans SC"/>
                <a:sym typeface="Noto Sans SC"/>
              </a:rPr>
              <a:t>分析与角色代理</a:t>
            </a:r>
            <a:r>
              <a:rPr lang="en-US" sz="1400" b="0" i="0" u="none" strike="noStrike" dirty="0">
                <a:solidFill>
                  <a:srgbClr val="8B5CF6"/>
                </a:solidFill>
                <a:latin typeface="Noto Sans SC"/>
                <a:ea typeface="Noto Sans SC"/>
                <a:cs typeface="Noto Sans SC"/>
                <a:sym typeface="Noto Sans SC"/>
              </a:rPr>
              <a:t>| ANALYSIS &amp; ROLES</a:t>
            </a:r>
            <a:endParaRPr lang="en-US" sz="1100" dirty="0"/>
          </a:p>
          <a:p>
            <a:pPr>
              <a:lnSpc>
                <a:spcPct val="108333"/>
              </a:lnSpc>
              <a:spcBef>
                <a:spcPts val="1000"/>
              </a:spcBef>
            </a:pPr>
            <a:r>
              <a:rPr lang="zh-CN" altLang="en-US" sz="1200" dirty="0" smtClean="0">
                <a:solidFill>
                  <a:srgbClr val="4B5563"/>
                </a:solidFill>
                <a:latin typeface="Noto Sans SC"/>
                <a:ea typeface="Noto Sans SC"/>
                <a:cs typeface="Noto Sans SC"/>
                <a:sym typeface="Noto Sans SC"/>
              </a:rPr>
              <a:t>按</a:t>
            </a:r>
            <a:r>
              <a:rPr lang="zh-CN" altLang="en-US" sz="1200" dirty="0">
                <a:solidFill>
                  <a:srgbClr val="4B5563"/>
                </a:solidFill>
                <a:latin typeface="Noto Sans SC"/>
                <a:ea typeface="Noto Sans SC"/>
                <a:cs typeface="Noto Sans SC"/>
                <a:sym typeface="Noto Sans SC"/>
              </a:rPr>
              <a:t>成员的世代（辈分）进行分组，并对每组进行聚合计算（如统计人数、平均年龄等）。代理对象代表一个世代组，包含世代标识和统计结果。</a:t>
            </a:r>
            <a:endParaRPr lang="en-US" sz="1200" b="0" i="0" u="none" strike="noStrike" dirty="0">
              <a:solidFill>
                <a:srgbClr val="4B5563"/>
              </a:solidFill>
              <a:latin typeface="Noto Sans SC"/>
              <a:ea typeface="Noto Sans SC"/>
              <a:cs typeface="Noto Sans SC"/>
              <a:sym typeface="Noto Sans SC"/>
            </a:endParaRPr>
          </a:p>
        </p:txBody>
      </p:sp>
    </p:spTree>
    <p:extLst>
      <p:ext uri="{BB962C8B-B14F-4D97-AF65-F5344CB8AC3E}">
        <p14:creationId xmlns:p14="http://schemas.microsoft.com/office/powerpoint/2010/main" val="2049556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60400" y="317500"/>
            <a:ext cx="1016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3C281E"/>
                </a:solidFill>
                <a:latin typeface="微软雅黑"/>
                <a:ea typeface="微软雅黑"/>
                <a:cs typeface="微软雅黑"/>
                <a:sym typeface="微软雅黑"/>
              </a:rPr>
              <a:t>如何利用代理类简化这些查询？</a:t>
            </a:r>
            <a:endParaRPr lang="en-US" sz="1100"/>
          </a:p>
        </p:txBody>
      </p:sp>
      <p:sp>
        <p:nvSpPr>
          <p:cNvPr id="3" name="AutoShape 3"/>
          <p:cNvSpPr/>
          <p:nvPr/>
        </p:nvSpPr>
        <p:spPr>
          <a:xfrm>
            <a:off x="660400" y="1397000"/>
            <a:ext cx="2082800" cy="4191000"/>
          </a:xfrm>
          <a:prstGeom prst="roundRect">
            <a:avLst>
              <a:gd name="adj" fmla="val 0"/>
            </a:avLst>
          </a:prstGeom>
          <a:solidFill>
            <a:srgbClr val="FFFFFF">
              <a:alpha val="95000"/>
            </a:srgbClr>
          </a:solidFill>
          <a:ln w="12700" cap="flat" cmpd="sng">
            <a:solidFill>
              <a:srgbClr val="DCA050">
                <a:alpha val="100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87400" y="1651000"/>
            <a:ext cx="18288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B4471C"/>
                </a:solidFill>
                <a:latin typeface="Arial"/>
                <a:ea typeface="Arial"/>
                <a:cs typeface="Arial"/>
                <a:sym typeface="Arial"/>
              </a:rPr>
              <a:t>01</a:t>
            </a:r>
            <a:endParaRPr lang="en-US" sz="1100"/>
          </a:p>
        </p:txBody>
      </p:sp>
      <p:sp>
        <p:nvSpPr>
          <p:cNvPr id="5" name="AutoShape 5"/>
          <p:cNvSpPr/>
          <p:nvPr/>
        </p:nvSpPr>
        <p:spPr>
          <a:xfrm>
            <a:off x="787400" y="2540000"/>
            <a:ext cx="18288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700" b="1" i="0" u="none" strike="noStrike">
                <a:solidFill>
                  <a:srgbClr val="1F2329"/>
                </a:solidFill>
                <a:latin typeface="微软雅黑"/>
                <a:ea typeface="微软雅黑"/>
                <a:cs typeface="微软雅黑"/>
                <a:sym typeface="微软雅黑"/>
              </a:rPr>
              <a:t>夫妻代理类 (Join)</a:t>
            </a:r>
            <a:endParaRPr lang="en-US" sz="1100"/>
          </a:p>
        </p:txBody>
      </p:sp>
      <p:sp>
        <p:nvSpPr>
          <p:cNvPr id="6" name="AutoShape 6"/>
          <p:cNvSpPr/>
          <p:nvPr/>
        </p:nvSpPr>
        <p:spPr>
          <a:xfrm>
            <a:off x="787400" y="3556000"/>
            <a:ext cx="1828800" cy="177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dirty="0" err="1">
                <a:solidFill>
                  <a:srgbClr val="505050"/>
                </a:solidFill>
                <a:latin typeface="Noto Sans SC"/>
                <a:ea typeface="Noto Sans SC"/>
                <a:cs typeface="Noto Sans SC"/>
                <a:sym typeface="Noto Sans SC"/>
              </a:rPr>
              <a:t>如果：</a:t>
            </a:r>
            <a:r>
              <a:rPr lang="en-US" sz="1200" b="0" i="0" u="none" strike="noStrike" dirty="0" err="1">
                <a:solidFill>
                  <a:srgbClr val="505050"/>
                </a:solidFill>
                <a:latin typeface="Noto Sans SC"/>
                <a:ea typeface="Noto Sans SC"/>
                <a:cs typeface="Noto Sans SC"/>
                <a:sym typeface="Noto Sans SC"/>
              </a:rPr>
              <a:t>建立「夫妻代理类</a:t>
            </a:r>
            <a:r>
              <a:rPr lang="en-US" sz="1200" b="0" i="0" u="none" strike="noStrike" dirty="0">
                <a:solidFill>
                  <a:srgbClr val="505050"/>
                </a:solidFill>
                <a:latin typeface="Noto Sans SC"/>
                <a:ea typeface="Noto Sans SC"/>
                <a:cs typeface="Noto Sans SC"/>
                <a:sym typeface="Noto Sans SC"/>
              </a:rPr>
              <a:t>」(</a:t>
            </a:r>
            <a:r>
              <a:rPr lang="en-US" sz="1200" b="0" i="0" u="none" strike="noStrike" dirty="0" err="1">
                <a:solidFill>
                  <a:srgbClr val="505050"/>
                </a:solidFill>
                <a:latin typeface="Noto Sans SC"/>
                <a:ea typeface="Noto Sans SC"/>
                <a:cs typeface="Noto Sans SC"/>
                <a:sym typeface="Noto Sans SC"/>
              </a:rPr>
              <a:t>Join代理</a:t>
            </a:r>
            <a:r>
              <a:rPr lang="en-US" sz="1200" b="0" i="0" u="none" strike="noStrike" dirty="0">
                <a:solidFill>
                  <a:srgbClr val="505050"/>
                </a:solidFill>
                <a:latin typeface="Noto Sans SC"/>
                <a:ea typeface="Noto Sans SC"/>
                <a:cs typeface="Noto Sans SC"/>
                <a:sym typeface="Noto Sans SC"/>
              </a:rPr>
              <a:t>)</a:t>
            </a:r>
            <a:endParaRPr lang="en-US" sz="1100" dirty="0"/>
          </a:p>
          <a:p>
            <a:pPr indent="0" algn="l">
              <a:lnSpc>
                <a:spcPct val="108333"/>
              </a:lnSpc>
            </a:pPr>
            <a:r>
              <a:rPr lang="en-US" sz="1200" b="1" i="0" u="none" strike="noStrike" dirty="0">
                <a:solidFill>
                  <a:srgbClr val="505050"/>
                </a:solidFill>
                <a:latin typeface="Noto Sans SC"/>
                <a:ea typeface="Noto Sans SC"/>
                <a:cs typeface="Noto Sans SC"/>
                <a:sym typeface="Noto Sans SC"/>
              </a:rPr>
              <a:t>→ </a:t>
            </a:r>
            <a:r>
              <a:rPr lang="en-US" sz="1200" b="1" i="0" u="none" strike="noStrike" dirty="0" err="1">
                <a:solidFill>
                  <a:srgbClr val="505050"/>
                </a:solidFill>
                <a:latin typeface="Noto Sans SC"/>
                <a:ea typeface="Noto Sans SC"/>
                <a:cs typeface="Noto Sans SC"/>
                <a:sym typeface="Noto Sans SC"/>
              </a:rPr>
              <a:t>简化：</a:t>
            </a:r>
            <a:r>
              <a:rPr lang="en-US" sz="1200" b="0" i="0" u="none" strike="noStrike" dirty="0" err="1">
                <a:solidFill>
                  <a:srgbClr val="505050"/>
                </a:solidFill>
                <a:latin typeface="Noto Sans SC"/>
                <a:ea typeface="Noto Sans SC"/>
                <a:cs typeface="Noto Sans SC"/>
                <a:sym typeface="Noto Sans SC"/>
              </a:rPr>
              <a:t>查询配偶直接查此类，无需复杂的自连接SQL</a:t>
            </a:r>
            <a:r>
              <a:rPr lang="en-US" sz="1200" b="0" i="0" u="none" strike="noStrike" dirty="0">
                <a:solidFill>
                  <a:srgbClr val="505050"/>
                </a:solidFill>
                <a:latin typeface="Noto Sans SC"/>
                <a:ea typeface="Noto Sans SC"/>
                <a:cs typeface="Noto Sans SC"/>
                <a:sym typeface="Noto Sans SC"/>
              </a:rPr>
              <a:t>。</a:t>
            </a:r>
          </a:p>
        </p:txBody>
      </p:sp>
      <p:sp>
        <p:nvSpPr>
          <p:cNvPr id="7" name="AutoShape 7"/>
          <p:cNvSpPr/>
          <p:nvPr/>
        </p:nvSpPr>
        <p:spPr>
          <a:xfrm>
            <a:off x="2921000" y="1397000"/>
            <a:ext cx="2082800" cy="4191000"/>
          </a:xfrm>
          <a:prstGeom prst="roundRect">
            <a:avLst>
              <a:gd name="adj" fmla="val 0"/>
            </a:avLst>
          </a:prstGeom>
          <a:solidFill>
            <a:srgbClr val="FFFFFF">
              <a:alpha val="95000"/>
            </a:srgbClr>
          </a:solidFill>
          <a:ln w="12700" cap="flat" cmpd="sng">
            <a:solidFill>
              <a:srgbClr val="DCA050">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3048000" y="1651000"/>
            <a:ext cx="18288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B4471C"/>
                </a:solidFill>
                <a:latin typeface="Arial"/>
                <a:ea typeface="Arial"/>
                <a:cs typeface="Arial"/>
                <a:sym typeface="Arial"/>
              </a:rPr>
              <a:t>02</a:t>
            </a:r>
            <a:endParaRPr lang="en-US" sz="1100"/>
          </a:p>
        </p:txBody>
      </p:sp>
      <p:sp>
        <p:nvSpPr>
          <p:cNvPr id="9" name="AutoShape 9"/>
          <p:cNvSpPr/>
          <p:nvPr/>
        </p:nvSpPr>
        <p:spPr>
          <a:xfrm>
            <a:off x="3048000" y="2540000"/>
            <a:ext cx="18288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700" b="1" i="0" u="none" strike="noStrike">
                <a:solidFill>
                  <a:srgbClr val="1F2329"/>
                </a:solidFill>
                <a:latin typeface="微软雅黑"/>
                <a:ea typeface="微软雅黑"/>
                <a:cs typeface="微软雅黑"/>
                <a:sym typeface="微软雅黑"/>
              </a:rPr>
              <a:t>父子关系代理类 (Select)</a:t>
            </a:r>
            <a:endParaRPr lang="en-US" sz="1100"/>
          </a:p>
        </p:txBody>
      </p:sp>
      <p:sp>
        <p:nvSpPr>
          <p:cNvPr id="10" name="AutoShape 10"/>
          <p:cNvSpPr/>
          <p:nvPr/>
        </p:nvSpPr>
        <p:spPr>
          <a:xfrm>
            <a:off x="3048000" y="3556000"/>
            <a:ext cx="1828800" cy="177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dirty="0" err="1">
                <a:solidFill>
                  <a:srgbClr val="505050"/>
                </a:solidFill>
                <a:latin typeface="Noto Sans SC"/>
                <a:ea typeface="Noto Sans SC"/>
                <a:cs typeface="Noto Sans SC"/>
                <a:sym typeface="Noto Sans SC"/>
              </a:rPr>
              <a:t>如果：</a:t>
            </a:r>
            <a:r>
              <a:rPr lang="en-US" sz="1200" b="0" i="0" u="none" strike="noStrike" dirty="0" err="1">
                <a:solidFill>
                  <a:srgbClr val="505050"/>
                </a:solidFill>
                <a:latin typeface="Noto Sans SC"/>
                <a:ea typeface="Noto Sans SC"/>
                <a:cs typeface="Noto Sans SC"/>
                <a:sym typeface="Noto Sans SC"/>
              </a:rPr>
              <a:t>建立父子关系代理</a:t>
            </a:r>
            <a:r>
              <a:rPr lang="en-US" sz="1200" b="0" i="0" u="none" strike="noStrike" dirty="0">
                <a:solidFill>
                  <a:srgbClr val="505050"/>
                </a:solidFill>
                <a:latin typeface="Noto Sans SC"/>
                <a:ea typeface="Noto Sans SC"/>
                <a:cs typeface="Noto Sans SC"/>
                <a:sym typeface="Noto Sans SC"/>
              </a:rPr>
              <a:t> </a:t>
            </a:r>
            <a:r>
              <a:rPr lang="en-US" sz="1200" b="1" i="0" u="none" strike="noStrike" dirty="0" smtClean="0">
                <a:solidFill>
                  <a:srgbClr val="505050"/>
                </a:solidFill>
                <a:latin typeface="Noto Sans SC"/>
                <a:ea typeface="Noto Sans SC"/>
                <a:cs typeface="Noto Sans SC"/>
                <a:sym typeface="Noto Sans SC"/>
              </a:rPr>
              <a:t>→ </a:t>
            </a:r>
            <a:r>
              <a:rPr lang="en-US" sz="1200" b="1" i="0" u="none" strike="noStrike" dirty="0" err="1">
                <a:solidFill>
                  <a:srgbClr val="505050"/>
                </a:solidFill>
                <a:latin typeface="Noto Sans SC"/>
                <a:ea typeface="Noto Sans SC"/>
                <a:cs typeface="Noto Sans SC"/>
                <a:sym typeface="Noto Sans SC"/>
              </a:rPr>
              <a:t>简化：</a:t>
            </a:r>
            <a:r>
              <a:rPr lang="en-US" sz="1200" b="0" i="0" u="none" strike="noStrike" dirty="0" err="1">
                <a:solidFill>
                  <a:srgbClr val="505050"/>
                </a:solidFill>
                <a:latin typeface="Noto Sans SC"/>
                <a:ea typeface="Noto Sans SC"/>
                <a:cs typeface="Noto Sans SC"/>
                <a:sym typeface="Noto Sans SC"/>
              </a:rPr>
              <a:t>子女直接导航，祖先</a:t>
            </a:r>
            <a:r>
              <a:rPr lang="en-US" sz="1200" b="0" i="0" u="none" strike="noStrike" dirty="0">
                <a:solidFill>
                  <a:srgbClr val="505050"/>
                </a:solidFill>
                <a:latin typeface="Noto Sans SC"/>
                <a:ea typeface="Noto Sans SC"/>
                <a:cs typeface="Noto Sans SC"/>
                <a:sym typeface="Noto Sans SC"/>
              </a:rPr>
              <a:t>/</a:t>
            </a:r>
            <a:r>
              <a:rPr lang="en-US" sz="1200" b="0" i="0" u="none" strike="noStrike" dirty="0" err="1">
                <a:solidFill>
                  <a:srgbClr val="505050"/>
                </a:solidFill>
                <a:latin typeface="Noto Sans SC"/>
                <a:ea typeface="Noto Sans SC"/>
                <a:cs typeface="Noto Sans SC"/>
                <a:sym typeface="Noto Sans SC"/>
              </a:rPr>
              <a:t>后代查询无需写递归CTE</a:t>
            </a:r>
            <a:r>
              <a:rPr lang="en-US" sz="1200" b="0" i="0" u="none" strike="noStrike" dirty="0">
                <a:solidFill>
                  <a:srgbClr val="505050"/>
                </a:solidFill>
                <a:latin typeface="Noto Sans SC"/>
                <a:ea typeface="Noto Sans SC"/>
                <a:cs typeface="Noto Sans SC"/>
                <a:sym typeface="Noto Sans SC"/>
              </a:rPr>
              <a:t>。</a:t>
            </a:r>
          </a:p>
        </p:txBody>
      </p:sp>
      <p:sp>
        <p:nvSpPr>
          <p:cNvPr id="11" name="AutoShape 11"/>
          <p:cNvSpPr/>
          <p:nvPr/>
        </p:nvSpPr>
        <p:spPr>
          <a:xfrm>
            <a:off x="5181600" y="1397000"/>
            <a:ext cx="2082800" cy="4191000"/>
          </a:xfrm>
          <a:prstGeom prst="roundRect">
            <a:avLst>
              <a:gd name="adj" fmla="val 0"/>
            </a:avLst>
          </a:prstGeom>
          <a:solidFill>
            <a:srgbClr val="FFFFFF">
              <a:alpha val="95000"/>
            </a:srgbClr>
          </a:solidFill>
          <a:ln w="12700" cap="flat" cmpd="sng">
            <a:solidFill>
              <a:srgbClr val="DCA050">
                <a:alpha val="10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308600" y="1651000"/>
            <a:ext cx="18288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B4471C"/>
                </a:solidFill>
                <a:latin typeface="Arial"/>
                <a:ea typeface="Arial"/>
                <a:cs typeface="Arial"/>
                <a:sym typeface="Arial"/>
              </a:rPr>
              <a:t>03</a:t>
            </a:r>
            <a:endParaRPr lang="en-US" sz="1100"/>
          </a:p>
        </p:txBody>
      </p:sp>
      <p:sp>
        <p:nvSpPr>
          <p:cNvPr id="13" name="AutoShape 13"/>
          <p:cNvSpPr/>
          <p:nvPr/>
        </p:nvSpPr>
        <p:spPr>
          <a:xfrm>
            <a:off x="5308600" y="2540000"/>
            <a:ext cx="18288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700" b="1" i="0" u="none" strike="noStrike">
                <a:solidFill>
                  <a:srgbClr val="1F2329"/>
                </a:solidFill>
                <a:latin typeface="微软雅黑"/>
                <a:ea typeface="微软雅黑"/>
                <a:cs typeface="微软雅黑"/>
                <a:sym typeface="微软雅黑"/>
              </a:rPr>
              <a:t>世代统计代理类 (Group)</a:t>
            </a:r>
            <a:endParaRPr lang="en-US" sz="1100"/>
          </a:p>
        </p:txBody>
      </p:sp>
      <p:sp>
        <p:nvSpPr>
          <p:cNvPr id="14" name="AutoShape 14"/>
          <p:cNvSpPr/>
          <p:nvPr/>
        </p:nvSpPr>
        <p:spPr>
          <a:xfrm>
            <a:off x="5308600" y="3556000"/>
            <a:ext cx="1828800" cy="177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a:solidFill>
                  <a:srgbClr val="505050"/>
                </a:solidFill>
                <a:latin typeface="Noto Sans SC"/>
                <a:ea typeface="Noto Sans SC"/>
                <a:cs typeface="Noto Sans SC"/>
                <a:sym typeface="Noto Sans SC"/>
              </a:rPr>
              <a:t>如果：</a:t>
            </a:r>
            <a:r>
              <a:rPr lang="en-US" sz="1200" b="0" i="0" u="none" strike="noStrike">
                <a:solidFill>
                  <a:srgbClr val="505050"/>
                </a:solidFill>
                <a:latin typeface="Noto Sans SC"/>
                <a:ea typeface="Noto Sans SC"/>
                <a:cs typeface="Noto Sans SC"/>
                <a:sym typeface="Noto Sans SC"/>
              </a:rPr>
              <a:t>建立「世代统计代理类」 (预计算结果)</a:t>
            </a:r>
            <a:endParaRPr lang="en-US" sz="1100"/>
          </a:p>
          <a:p>
            <a:pPr indent="0" algn="l">
              <a:lnSpc>
                <a:spcPct val="108333"/>
              </a:lnSpc>
            </a:pPr>
            <a:r>
              <a:rPr lang="en-US" sz="1200" b="1" i="0" u="none" strike="noStrike">
                <a:solidFill>
                  <a:srgbClr val="505050"/>
                </a:solidFill>
                <a:latin typeface="Noto Sans SC"/>
                <a:ea typeface="Noto Sans SC"/>
                <a:cs typeface="Noto Sans SC"/>
                <a:sym typeface="Noto Sans SC"/>
              </a:rPr>
              <a:t>→ 简化：</a:t>
            </a:r>
            <a:r>
              <a:rPr lang="en-US" sz="1200" b="0" i="0" u="none" strike="noStrike">
                <a:solidFill>
                  <a:srgbClr val="505050"/>
                </a:solidFill>
                <a:latin typeface="Noto Sans SC"/>
                <a:ea typeface="Noto Sans SC"/>
                <a:cs typeface="Noto Sans SC"/>
                <a:sym typeface="Noto Sans SC"/>
              </a:rPr>
              <a:t>统计“平均寿命最长一代”直接查询，无需聚合。</a:t>
            </a:r>
          </a:p>
        </p:txBody>
      </p:sp>
      <p:sp>
        <p:nvSpPr>
          <p:cNvPr id="15" name="AutoShape 15"/>
          <p:cNvSpPr/>
          <p:nvPr/>
        </p:nvSpPr>
        <p:spPr>
          <a:xfrm>
            <a:off x="7442200" y="1397000"/>
            <a:ext cx="2082800" cy="4191000"/>
          </a:xfrm>
          <a:prstGeom prst="roundRect">
            <a:avLst>
              <a:gd name="adj" fmla="val 0"/>
            </a:avLst>
          </a:prstGeom>
          <a:solidFill>
            <a:srgbClr val="FFFFFF">
              <a:alpha val="95000"/>
            </a:srgbClr>
          </a:solidFill>
          <a:ln w="12700" cap="flat" cmpd="sng">
            <a:solidFill>
              <a:srgbClr val="DCA050">
                <a:alpha val="10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7569200" y="1651000"/>
            <a:ext cx="18288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B4471C"/>
                </a:solidFill>
                <a:latin typeface="Arial"/>
                <a:ea typeface="Arial"/>
                <a:cs typeface="Arial"/>
                <a:sym typeface="Arial"/>
              </a:rPr>
              <a:t>04</a:t>
            </a:r>
            <a:endParaRPr lang="en-US" sz="1100"/>
          </a:p>
        </p:txBody>
      </p:sp>
      <p:sp>
        <p:nvSpPr>
          <p:cNvPr id="17" name="AutoShape 17"/>
          <p:cNvSpPr/>
          <p:nvPr/>
        </p:nvSpPr>
        <p:spPr>
          <a:xfrm>
            <a:off x="7569200" y="2540000"/>
            <a:ext cx="18288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700" b="1" i="0" u="none" strike="noStrike">
                <a:solidFill>
                  <a:srgbClr val="1F2329"/>
                </a:solidFill>
                <a:latin typeface="微软雅黑"/>
                <a:ea typeface="微软雅黑"/>
                <a:cs typeface="微软雅黑"/>
                <a:sym typeface="微软雅黑"/>
              </a:rPr>
              <a:t>成员角色代理类 (Select)</a:t>
            </a:r>
            <a:endParaRPr lang="en-US" sz="1100"/>
          </a:p>
        </p:txBody>
      </p:sp>
      <p:sp>
        <p:nvSpPr>
          <p:cNvPr id="18" name="AutoShape 18"/>
          <p:cNvSpPr/>
          <p:nvPr/>
        </p:nvSpPr>
        <p:spPr>
          <a:xfrm>
            <a:off x="7569200" y="3556000"/>
            <a:ext cx="1828800" cy="177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dirty="0" err="1">
                <a:solidFill>
                  <a:srgbClr val="505050"/>
                </a:solidFill>
                <a:latin typeface="Noto Sans SC"/>
                <a:ea typeface="Noto Sans SC"/>
                <a:cs typeface="Noto Sans SC"/>
                <a:sym typeface="Noto Sans SC"/>
              </a:rPr>
              <a:t>如果：</a:t>
            </a:r>
            <a:r>
              <a:rPr lang="en-US" sz="1200" b="0" i="0" u="none" strike="noStrike" dirty="0" err="1">
                <a:solidFill>
                  <a:srgbClr val="505050"/>
                </a:solidFill>
                <a:latin typeface="Noto Sans SC"/>
                <a:ea typeface="Noto Sans SC"/>
                <a:cs typeface="Noto Sans SC"/>
                <a:sym typeface="Noto Sans SC"/>
              </a:rPr>
              <a:t>建立「成员角色代理类</a:t>
            </a:r>
            <a:r>
              <a:rPr lang="en-US" sz="1200" b="0" i="0" u="none" strike="noStrike" dirty="0">
                <a:solidFill>
                  <a:srgbClr val="505050"/>
                </a:solidFill>
                <a:latin typeface="Noto Sans SC"/>
                <a:ea typeface="Noto Sans SC"/>
                <a:cs typeface="Noto Sans SC"/>
                <a:sym typeface="Noto Sans SC"/>
              </a:rPr>
              <a:t>」，</a:t>
            </a:r>
            <a:r>
              <a:rPr lang="en-US" sz="1200" b="0" i="0" u="none" strike="noStrike" dirty="0" err="1">
                <a:solidFill>
                  <a:srgbClr val="505050"/>
                </a:solidFill>
                <a:latin typeface="Noto Sans SC"/>
                <a:ea typeface="Noto Sans SC"/>
                <a:cs typeface="Noto Sans SC"/>
                <a:sym typeface="Noto Sans SC"/>
              </a:rPr>
              <a:t>整合特征</a:t>
            </a:r>
            <a:endParaRPr lang="en-US" sz="1100" dirty="0"/>
          </a:p>
          <a:p>
            <a:pPr indent="0" algn="l">
              <a:lnSpc>
                <a:spcPct val="108333"/>
              </a:lnSpc>
            </a:pPr>
            <a:r>
              <a:rPr lang="en-US" sz="1200" b="1" i="0" u="none" strike="noStrike" dirty="0">
                <a:solidFill>
                  <a:srgbClr val="505050"/>
                </a:solidFill>
                <a:latin typeface="Noto Sans SC"/>
                <a:ea typeface="Noto Sans SC"/>
                <a:cs typeface="Noto Sans SC"/>
                <a:sym typeface="Noto Sans SC"/>
              </a:rPr>
              <a:t>→ 简化：</a:t>
            </a:r>
            <a:r>
              <a:rPr lang="en-US" sz="1200" b="0" i="0" u="none" strike="noStrike" dirty="0">
                <a:solidFill>
                  <a:srgbClr val="505050"/>
                </a:solidFill>
                <a:latin typeface="Noto Sans SC"/>
                <a:ea typeface="Noto Sans SC"/>
                <a:cs typeface="Noto Sans SC"/>
                <a:sym typeface="Noto Sans SC"/>
              </a:rPr>
              <a:t>查“50岁+无配偶男性”仅需简单过滤，逻辑清晰。</a:t>
            </a:r>
          </a:p>
        </p:txBody>
      </p:sp>
      <p:sp>
        <p:nvSpPr>
          <p:cNvPr id="23" name="AutoShape 23"/>
          <p:cNvSpPr/>
          <p:nvPr/>
        </p:nvSpPr>
        <p:spPr>
          <a:xfrm>
            <a:off x="177800" y="5842000"/>
            <a:ext cx="11125200" cy="889000"/>
          </a:xfrm>
          <a:prstGeom prst="roundRect">
            <a:avLst>
              <a:gd name="adj" fmla="val 14285"/>
            </a:avLst>
          </a:prstGeom>
          <a:solidFill>
            <a:srgbClr val="DCA050">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304800" y="5969000"/>
            <a:ext cx="108712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dirty="0">
                <a:solidFill>
                  <a:srgbClr val="823214"/>
                </a:solidFill>
                <a:latin typeface="微软雅黑"/>
                <a:ea typeface="微软雅黑"/>
                <a:cs typeface="微软雅黑"/>
                <a:sym typeface="微软雅黑"/>
              </a:rPr>
              <a:t>💡 </a:t>
            </a:r>
            <a:r>
              <a:rPr lang="en-US" sz="1500" b="1" i="0" u="none" strike="noStrike" dirty="0" err="1">
                <a:solidFill>
                  <a:srgbClr val="823214"/>
                </a:solidFill>
                <a:latin typeface="微软雅黑"/>
                <a:ea typeface="微软雅黑"/>
                <a:cs typeface="微软雅黑"/>
                <a:sym typeface="微软雅黑"/>
              </a:rPr>
              <a:t>核心总结：将复杂关系逻辑“提前”封装成代理类</a:t>
            </a:r>
            <a:r>
              <a:rPr lang="en-US" sz="1500" b="1" i="0" u="none" strike="noStrike" dirty="0">
                <a:solidFill>
                  <a:srgbClr val="823214"/>
                </a:solidFill>
                <a:latin typeface="微软雅黑"/>
                <a:ea typeface="微软雅黑"/>
                <a:cs typeface="微软雅黑"/>
                <a:sym typeface="微软雅黑"/>
              </a:rPr>
              <a:t> → </a:t>
            </a:r>
            <a:r>
              <a:rPr lang="en-US" sz="1500" b="1" i="0" u="none" strike="noStrike" dirty="0" err="1">
                <a:solidFill>
                  <a:srgbClr val="823214"/>
                </a:solidFill>
                <a:latin typeface="微软雅黑"/>
                <a:ea typeface="微软雅黑"/>
                <a:cs typeface="微软雅黑"/>
                <a:sym typeface="微软雅黑"/>
              </a:rPr>
              <a:t>查询时直接调用，大幅降低SQL复杂度，显著提升开发效率</a:t>
            </a:r>
            <a:r>
              <a:rPr lang="en-US" sz="1500" b="1" i="0" u="none" strike="noStrike" dirty="0">
                <a:solidFill>
                  <a:srgbClr val="823214"/>
                </a:solidFill>
                <a:latin typeface="微软雅黑"/>
                <a:ea typeface="微软雅黑"/>
                <a:cs typeface="微软雅黑"/>
                <a:sym typeface="微软雅黑"/>
              </a:rPr>
              <a:t>！</a:t>
            </a:r>
            <a:endParaRPr lang="en-US" sz="1100" dirty="0"/>
          </a:p>
        </p:txBody>
      </p:sp>
    </p:spTree>
    <p:extLst>
      <p:ext uri="{BB962C8B-B14F-4D97-AF65-F5344CB8AC3E}">
        <p14:creationId xmlns:p14="http://schemas.microsoft.com/office/powerpoint/2010/main" val="813495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smtClean="0">
                <a:solidFill>
                  <a:srgbClr val="1F2937"/>
                </a:solidFill>
                <a:latin typeface="Noto Sans SC"/>
                <a:ea typeface="Noto Sans SC"/>
                <a:cs typeface="Noto Sans SC"/>
                <a:sym typeface="Noto Sans SC"/>
              </a:rPr>
              <a:t>将数据库能力通过界面展示</a:t>
            </a:r>
            <a:endParaRPr lang="en-US" sz="1100" dirty="0"/>
          </a:p>
        </p:txBody>
      </p:sp>
      <p:sp>
        <p:nvSpPr>
          <p:cNvPr id="4" name="AutoShape 4"/>
          <p:cNvSpPr/>
          <p:nvPr/>
        </p:nvSpPr>
        <p:spPr>
          <a:xfrm>
            <a:off x="762000" y="1651000"/>
            <a:ext cx="6604000" cy="1905000"/>
          </a:xfrm>
          <a:prstGeom prst="roundRect">
            <a:avLst>
              <a:gd name="adj" fmla="val 800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841500"/>
            <a:ext cx="6096000" cy="1524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900" b="1" i="0" u="none" strike="noStrike" dirty="0" err="1">
                <a:solidFill>
                  <a:srgbClr val="1E40AF"/>
                </a:solidFill>
                <a:latin typeface="Noto Sans SC"/>
                <a:ea typeface="Noto Sans SC"/>
                <a:cs typeface="Noto Sans SC"/>
                <a:sym typeface="Noto Sans SC"/>
              </a:rPr>
              <a:t>前端调用与可视化</a:t>
            </a:r>
            <a:endParaRPr lang="en-US" sz="1100" dirty="0"/>
          </a:p>
          <a:p>
            <a:pPr indent="0" algn="l">
              <a:lnSpc>
                <a:spcPct val="116666"/>
              </a:lnSpc>
              <a:spcBef>
                <a:spcPts val="1000"/>
              </a:spcBef>
            </a:pPr>
            <a:r>
              <a:rPr lang="en-US" sz="1300" b="0" i="0" u="none" strike="noStrike" dirty="0" err="1">
                <a:solidFill>
                  <a:srgbClr val="374151"/>
                </a:solidFill>
                <a:latin typeface="Noto Sans SC"/>
                <a:ea typeface="Noto Sans SC"/>
                <a:cs typeface="Noto Sans SC"/>
                <a:sym typeface="Noto Sans SC"/>
              </a:rPr>
              <a:t>前端应用通过调用</a:t>
            </a:r>
            <a:r>
              <a:rPr lang="en-US" sz="1300" b="0" i="0" u="none" strike="noStrike" dirty="0">
                <a:solidFill>
                  <a:srgbClr val="374151"/>
                </a:solidFill>
                <a:latin typeface="Noto Sans SC"/>
                <a:ea typeface="Noto Sans SC"/>
                <a:cs typeface="Noto Sans SC"/>
                <a:sym typeface="Noto Sans SC"/>
              </a:rPr>
              <a:t> Totem </a:t>
            </a:r>
            <a:r>
              <a:rPr lang="en-US" sz="1300" b="0" i="0" u="none" strike="noStrike" dirty="0" err="1">
                <a:solidFill>
                  <a:srgbClr val="374151"/>
                </a:solidFill>
                <a:latin typeface="Noto Sans SC"/>
                <a:ea typeface="Noto Sans SC"/>
                <a:cs typeface="Noto Sans SC"/>
                <a:sym typeface="Noto Sans SC"/>
              </a:rPr>
              <a:t>提供的</a:t>
            </a:r>
            <a:r>
              <a:rPr lang="en-US" sz="1300" b="0" i="0" u="none" strike="noStrike" dirty="0">
                <a:solidFill>
                  <a:srgbClr val="374151"/>
                </a:solidFill>
                <a:latin typeface="Noto Sans SC"/>
                <a:ea typeface="Noto Sans SC"/>
                <a:cs typeface="Noto Sans SC"/>
                <a:sym typeface="Noto Sans SC"/>
              </a:rPr>
              <a:t> </a:t>
            </a:r>
            <a:r>
              <a:rPr lang="en-US" sz="1300" b="0" i="0" u="none" strike="noStrike" dirty="0" err="1">
                <a:solidFill>
                  <a:srgbClr val="374151"/>
                </a:solidFill>
                <a:latin typeface="Noto Sans SC"/>
                <a:ea typeface="Noto Sans SC"/>
                <a:cs typeface="Noto Sans SC"/>
                <a:sym typeface="Noto Sans SC"/>
              </a:rPr>
              <a:t>API，将后端代理类的查询结果直接在界面上进行可视化呈现，打破了传统数据库与前端应用之间的壁垒，实现了数据能力的高效输出</a:t>
            </a:r>
            <a:r>
              <a:rPr lang="en-US" sz="1300" b="0" i="0" u="none" strike="noStrike" dirty="0">
                <a:solidFill>
                  <a:srgbClr val="374151"/>
                </a:solidFill>
                <a:latin typeface="Noto Sans SC"/>
                <a:ea typeface="Noto Sans SC"/>
                <a:cs typeface="Noto Sans SC"/>
                <a:sym typeface="Noto Sans SC"/>
              </a:rPr>
              <a:t>。</a:t>
            </a:r>
          </a:p>
        </p:txBody>
      </p:sp>
      <p:sp>
        <p:nvSpPr>
          <p:cNvPr id="6" name="AutoShape 6"/>
          <p:cNvSpPr/>
          <p:nvPr/>
        </p:nvSpPr>
        <p:spPr>
          <a:xfrm>
            <a:off x="762000" y="3937000"/>
            <a:ext cx="6604000" cy="2286000"/>
          </a:xfrm>
          <a:prstGeom prst="roundRect">
            <a:avLst>
              <a:gd name="adj" fmla="val 6666"/>
            </a:avLst>
          </a:prstGeom>
          <a:solidFill>
            <a:srgbClr val="FFFBEB">
              <a:alpha val="100000"/>
            </a:srgbClr>
          </a:solidFill>
          <a:ln w="12700" cap="flat" cmpd="sng">
            <a:solidFill>
              <a:srgbClr val="FDE68A">
                <a:alpha val="10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4191000"/>
            <a:ext cx="457200" cy="457200"/>
          </a:xfrm>
          <a:prstGeom prst="rect">
            <a:avLst/>
          </a:prstGeom>
        </p:spPr>
      </p:pic>
      <p:sp>
        <p:nvSpPr>
          <p:cNvPr id="8" name="AutoShape 8"/>
          <p:cNvSpPr/>
          <p:nvPr/>
        </p:nvSpPr>
        <p:spPr>
          <a:xfrm>
            <a:off x="1651000" y="4191000"/>
            <a:ext cx="5461000" cy="177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1" i="0" u="none" strike="noStrike">
                <a:solidFill>
                  <a:srgbClr val="B45309"/>
                </a:solidFill>
                <a:latin typeface="Noto Sans SC"/>
                <a:ea typeface="Noto Sans SC"/>
                <a:cs typeface="Noto Sans SC"/>
                <a:sym typeface="Noto Sans SC"/>
              </a:rPr>
              <a:t>用户体验的极致提升</a:t>
            </a:r>
            <a:endParaRPr lang="en-US" sz="1100"/>
          </a:p>
          <a:p>
            <a:pPr indent="0" algn="l">
              <a:lnSpc>
                <a:spcPct val="116666"/>
              </a:lnSpc>
              <a:spcBef>
                <a:spcPts val="800"/>
              </a:spcBef>
            </a:pPr>
            <a:r>
              <a:rPr lang="en-US" sz="1300" b="0" i="0" u="none" strike="noStrike">
                <a:solidFill>
                  <a:srgbClr val="451A03"/>
                </a:solidFill>
                <a:latin typeface="Noto Sans SC"/>
                <a:ea typeface="Noto Sans SC"/>
                <a:cs typeface="Noto Sans SC"/>
                <a:sym typeface="Noto Sans SC"/>
              </a:rPr>
              <a:t>用户无需编写任何 SQL 语句，只需通过简单的界面操作，即可体验到对象代理模型带来的便捷与强大，真正实现了“底层数据库能力 + 上层交互界面”的完整应用闭环。</a:t>
            </a:r>
          </a:p>
        </p:txBody>
      </p:sp>
      <p:sp>
        <p:nvSpPr>
          <p:cNvPr id="9" name="AutoShape 9"/>
          <p:cNvSpPr/>
          <p:nvPr/>
        </p:nvSpPr>
        <p:spPr>
          <a:xfrm>
            <a:off x="7747000" y="1651000"/>
            <a:ext cx="3937000" cy="2286000"/>
          </a:xfrm>
          <a:prstGeom prst="roundRect">
            <a:avLst>
              <a:gd name="adj" fmla="val 8888"/>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8001000" y="1905000"/>
            <a:ext cx="609600" cy="609600"/>
          </a:xfrm>
          <a:prstGeom prst="rect">
            <a:avLst/>
          </a:prstGeom>
        </p:spPr>
      </p:pic>
      <p:sp>
        <p:nvSpPr>
          <p:cNvPr id="11" name="AutoShape 11"/>
          <p:cNvSpPr/>
          <p:nvPr/>
        </p:nvSpPr>
        <p:spPr>
          <a:xfrm>
            <a:off x="8763000" y="1841500"/>
            <a:ext cx="2667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F2937"/>
                </a:solidFill>
                <a:latin typeface="Noto Sans SC"/>
                <a:ea typeface="Noto Sans SC"/>
                <a:cs typeface="Noto Sans SC"/>
                <a:sym typeface="Noto Sans SC"/>
              </a:rPr>
              <a:t>家族关系可视化</a:t>
            </a:r>
            <a:endParaRPr lang="en-US" sz="1100"/>
          </a:p>
          <a:p>
            <a:pPr indent="0" algn="l">
              <a:lnSpc>
                <a:spcPct val="116666"/>
              </a:lnSpc>
              <a:spcBef>
                <a:spcPts val="1000"/>
              </a:spcBef>
            </a:pPr>
            <a:r>
              <a:rPr lang="en-US" sz="1200" b="1" i="0" u="none" strike="noStrike">
                <a:solidFill>
                  <a:srgbClr val="4B5563"/>
                </a:solidFill>
                <a:latin typeface="Noto Sans SC"/>
                <a:ea typeface="Noto Sans SC"/>
                <a:cs typeface="Noto Sans SC"/>
                <a:sym typeface="Noto Sans SC"/>
              </a:rPr>
              <a:t>• 族谱树形图：</a:t>
            </a:r>
            <a:r>
              <a:rPr lang="en-US" sz="1200" b="0" i="0" u="none" strike="noStrike">
                <a:solidFill>
                  <a:srgbClr val="4B5563"/>
                </a:solidFill>
                <a:latin typeface="Noto Sans SC"/>
                <a:ea typeface="Noto Sans SC"/>
                <a:cs typeface="Noto Sans SC"/>
                <a:sym typeface="Noto Sans SC"/>
              </a:rPr>
              <a:t>直观展示家族成员的层级结构与亲属关系，脉络清晰。</a:t>
            </a:r>
            <a:r>
              <a:rPr lang="en-US" sz="1600" b="0" i="0" u="none" strike="noStrike">
                <a:solidFill>
                  <a:srgbClr val="1F2329"/>
                </a:solidFill>
                <a:latin typeface="Noto Sans SC"/>
                <a:ea typeface="Noto Sans SC"/>
                <a:cs typeface="Noto Sans SC"/>
                <a:sym typeface="Noto Sans SC"/>
              </a:rPr>
              <a:t/>
            </a:r>
            <a:br>
              <a:rPr lang="en-US" sz="1600" b="0" i="0" u="none" strike="noStrike">
                <a:solidFill>
                  <a:srgbClr val="1F2329"/>
                </a:solidFill>
                <a:latin typeface="Noto Sans SC"/>
                <a:ea typeface="Noto Sans SC"/>
                <a:cs typeface="Noto Sans SC"/>
                <a:sym typeface="Noto Sans SC"/>
              </a:rPr>
            </a:br>
            <a:r>
              <a:rPr lang="en-US" sz="1200" b="1" i="0" u="none" strike="noStrike">
                <a:solidFill>
                  <a:srgbClr val="4B5563"/>
                </a:solidFill>
                <a:latin typeface="Noto Sans SC"/>
                <a:ea typeface="Noto Sans SC"/>
                <a:cs typeface="Noto Sans SC"/>
                <a:sym typeface="Noto Sans SC"/>
              </a:rPr>
              <a:t>• 亲缘路径查询：</a:t>
            </a:r>
            <a:r>
              <a:rPr lang="en-US" sz="1200" b="0" i="0" u="none" strike="noStrike">
                <a:solidFill>
                  <a:srgbClr val="4B5563"/>
                </a:solidFill>
                <a:latin typeface="Noto Sans SC"/>
                <a:ea typeface="Noto Sans SC"/>
                <a:cs typeface="Noto Sans SC"/>
                <a:sym typeface="Noto Sans SC"/>
              </a:rPr>
              <a:t>快速查询任意两个成员间的亲缘路径，支持复杂关系追溯。</a:t>
            </a:r>
          </a:p>
        </p:txBody>
      </p:sp>
      <p:sp>
        <p:nvSpPr>
          <p:cNvPr id="12" name="AutoShape 12"/>
          <p:cNvSpPr/>
          <p:nvPr/>
        </p:nvSpPr>
        <p:spPr>
          <a:xfrm>
            <a:off x="7747000" y="4191000"/>
            <a:ext cx="3937000" cy="2159000"/>
          </a:xfrm>
          <a:prstGeom prst="roundRect">
            <a:avLst>
              <a:gd name="adj" fmla="val 9411"/>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8001000" y="4572000"/>
            <a:ext cx="609600" cy="609600"/>
          </a:xfrm>
          <a:prstGeom prst="rect">
            <a:avLst/>
          </a:prstGeom>
        </p:spPr>
      </p:pic>
      <p:sp>
        <p:nvSpPr>
          <p:cNvPr id="14" name="AutoShape 14"/>
          <p:cNvSpPr/>
          <p:nvPr/>
        </p:nvSpPr>
        <p:spPr>
          <a:xfrm>
            <a:off x="8763000" y="4508500"/>
            <a:ext cx="2667000" cy="177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F2937"/>
                </a:solidFill>
                <a:latin typeface="Noto Sans SC"/>
                <a:ea typeface="Noto Sans SC"/>
                <a:cs typeface="Noto Sans SC"/>
                <a:sym typeface="Noto Sans SC"/>
              </a:rPr>
              <a:t>多维数据统计分析</a:t>
            </a:r>
            <a:endParaRPr lang="en-US" sz="1100"/>
          </a:p>
          <a:p>
            <a:pPr indent="0" algn="l">
              <a:lnSpc>
                <a:spcPct val="116666"/>
              </a:lnSpc>
              <a:spcBef>
                <a:spcPts val="1000"/>
              </a:spcBef>
            </a:pPr>
            <a:r>
              <a:rPr lang="en-US" sz="1200" b="0" i="0" u="none" strike="noStrike">
                <a:solidFill>
                  <a:srgbClr val="4B5563"/>
                </a:solidFill>
                <a:latin typeface="Noto Sans SC"/>
                <a:ea typeface="Noto Sans SC"/>
                <a:cs typeface="Noto Sans SC"/>
                <a:sym typeface="Noto Sans SC"/>
              </a:rPr>
              <a:t>内置多样化的图表组件，自动统计并展示家族“各代人数分布”、“男女比例”、“年龄结构”等关键信息，让数据洞察更加轻松。</a:t>
            </a:r>
          </a:p>
        </p:txBody>
      </p:sp>
    </p:spTree>
    <p:extLst>
      <p:ext uri="{BB962C8B-B14F-4D97-AF65-F5344CB8AC3E}">
        <p14:creationId xmlns:p14="http://schemas.microsoft.com/office/powerpoint/2010/main" val="430763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dirty="0" err="1" smtClean="0">
                <a:solidFill>
                  <a:srgbClr val="1F2937"/>
                </a:solidFill>
                <a:latin typeface="Noto Sans SC"/>
                <a:ea typeface="Noto Sans SC"/>
                <a:cs typeface="Noto Sans SC"/>
                <a:sym typeface="Noto Sans SC"/>
              </a:rPr>
              <a:t>应用界面与验收</a:t>
            </a:r>
            <a:endParaRPr lang="en-US" sz="1100" dirty="0"/>
          </a:p>
        </p:txBody>
      </p:sp>
      <p:sp>
        <p:nvSpPr>
          <p:cNvPr id="4" name="AutoShape 4"/>
          <p:cNvSpPr/>
          <p:nvPr/>
        </p:nvSpPr>
        <p:spPr>
          <a:xfrm>
            <a:off x="762000" y="1778000"/>
            <a:ext cx="2667000" cy="4318000"/>
          </a:xfrm>
          <a:prstGeom prst="roundRect">
            <a:avLst>
              <a:gd name="adj" fmla="val 5714"/>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689100" y="2159000"/>
            <a:ext cx="812800" cy="812800"/>
          </a:xfrm>
          <a:prstGeom prst="rect">
            <a:avLst/>
          </a:prstGeom>
        </p:spPr>
      </p:pic>
      <p:sp>
        <p:nvSpPr>
          <p:cNvPr id="6" name="AutoShape 6"/>
          <p:cNvSpPr/>
          <p:nvPr/>
        </p:nvSpPr>
        <p:spPr>
          <a:xfrm>
            <a:off x="889000" y="3175000"/>
            <a:ext cx="2413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F2937"/>
                </a:solidFill>
                <a:latin typeface="Noto Sans SC"/>
                <a:ea typeface="Noto Sans SC"/>
                <a:cs typeface="Noto Sans SC"/>
                <a:sym typeface="Noto Sans SC"/>
              </a:rPr>
              <a:t>应用界面功能模块</a:t>
            </a:r>
            <a:endParaRPr lang="en-US" sz="1100"/>
          </a:p>
        </p:txBody>
      </p:sp>
      <p:sp>
        <p:nvSpPr>
          <p:cNvPr id="7" name="AutoShape 7"/>
          <p:cNvSpPr/>
          <p:nvPr/>
        </p:nvSpPr>
        <p:spPr>
          <a:xfrm>
            <a:off x="952500" y="3556000"/>
            <a:ext cx="2413000" cy="190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dirty="0">
                <a:solidFill>
                  <a:srgbClr val="374151"/>
                </a:solidFill>
                <a:latin typeface="Noto Sans SC"/>
                <a:ea typeface="Noto Sans SC"/>
                <a:cs typeface="Noto Sans SC"/>
                <a:sym typeface="Noto Sans SC"/>
              </a:rPr>
              <a:t>• </a:t>
            </a:r>
            <a:r>
              <a:rPr lang="en-US" sz="1200" b="1" i="0" u="none" strike="noStrike" dirty="0" err="1" smtClean="0">
                <a:solidFill>
                  <a:srgbClr val="374151"/>
                </a:solidFill>
                <a:latin typeface="Noto Sans SC"/>
                <a:ea typeface="Noto Sans SC"/>
                <a:cs typeface="Noto Sans SC"/>
                <a:sym typeface="Noto Sans SC"/>
              </a:rPr>
              <a:t>成员管理</a:t>
            </a:r>
            <a:endParaRPr lang="en-US" sz="1100" dirty="0"/>
          </a:p>
          <a:p>
            <a:pPr indent="0" algn="l">
              <a:lnSpc>
                <a:spcPct val="108333"/>
              </a:lnSpc>
            </a:pPr>
            <a:r>
              <a:rPr lang="en-US" sz="1200" b="1" i="0" u="none" strike="noStrike" dirty="0">
                <a:solidFill>
                  <a:srgbClr val="374151"/>
                </a:solidFill>
                <a:latin typeface="Noto Sans SC"/>
                <a:ea typeface="Noto Sans SC"/>
                <a:cs typeface="Noto Sans SC"/>
                <a:sym typeface="Noto Sans SC"/>
              </a:rPr>
              <a:t>• </a:t>
            </a:r>
            <a:r>
              <a:rPr lang="en-US" sz="1200" b="1" i="0" u="none" strike="noStrike" dirty="0" err="1" smtClean="0">
                <a:solidFill>
                  <a:srgbClr val="374151"/>
                </a:solidFill>
                <a:latin typeface="Noto Sans SC"/>
                <a:ea typeface="Noto Sans SC"/>
                <a:cs typeface="Noto Sans SC"/>
                <a:sym typeface="Noto Sans SC"/>
              </a:rPr>
              <a:t>关系展示</a:t>
            </a:r>
            <a:endParaRPr lang="en-US" sz="1200" b="0" i="0" u="none" strike="noStrike" dirty="0">
              <a:solidFill>
                <a:srgbClr val="4B5563"/>
              </a:solidFill>
              <a:latin typeface="Noto Sans SC"/>
              <a:ea typeface="Noto Sans SC"/>
              <a:cs typeface="Noto Sans SC"/>
              <a:sym typeface="Noto Sans SC"/>
            </a:endParaRPr>
          </a:p>
          <a:p>
            <a:pPr indent="0" algn="l">
              <a:lnSpc>
                <a:spcPct val="108333"/>
              </a:lnSpc>
            </a:pPr>
            <a:r>
              <a:rPr lang="en-US" sz="1200" b="1" i="0" u="none" strike="noStrike" dirty="0">
                <a:solidFill>
                  <a:srgbClr val="374151"/>
                </a:solidFill>
                <a:latin typeface="Noto Sans SC"/>
                <a:ea typeface="Noto Sans SC"/>
                <a:cs typeface="Noto Sans SC"/>
                <a:sym typeface="Noto Sans SC"/>
              </a:rPr>
              <a:t>• </a:t>
            </a:r>
            <a:r>
              <a:rPr lang="en-US" sz="1200" b="1" i="0" u="none" strike="noStrike" dirty="0" err="1" smtClean="0">
                <a:solidFill>
                  <a:srgbClr val="374151"/>
                </a:solidFill>
                <a:latin typeface="Noto Sans SC"/>
                <a:ea typeface="Noto Sans SC"/>
                <a:cs typeface="Noto Sans SC"/>
                <a:sym typeface="Noto Sans SC"/>
              </a:rPr>
              <a:t>路径查询</a:t>
            </a:r>
            <a:endParaRPr lang="en-US" sz="1200" b="0" i="0" u="none" strike="noStrike" dirty="0">
              <a:solidFill>
                <a:srgbClr val="4B5563"/>
              </a:solidFill>
              <a:latin typeface="Noto Sans SC"/>
              <a:ea typeface="Noto Sans SC"/>
              <a:cs typeface="Noto Sans SC"/>
              <a:sym typeface="Noto Sans SC"/>
            </a:endParaRPr>
          </a:p>
          <a:p>
            <a:pPr indent="0" algn="l">
              <a:lnSpc>
                <a:spcPct val="108333"/>
              </a:lnSpc>
            </a:pPr>
            <a:r>
              <a:rPr lang="en-US" sz="1200" b="1" i="0" u="none" strike="noStrike" dirty="0">
                <a:solidFill>
                  <a:srgbClr val="374151"/>
                </a:solidFill>
                <a:latin typeface="Noto Sans SC"/>
                <a:ea typeface="Noto Sans SC"/>
                <a:cs typeface="Noto Sans SC"/>
                <a:sym typeface="Noto Sans SC"/>
              </a:rPr>
              <a:t>• </a:t>
            </a:r>
            <a:r>
              <a:rPr lang="en-US" sz="1200" b="1" i="0" u="none" strike="noStrike" dirty="0" err="1" smtClean="0">
                <a:solidFill>
                  <a:srgbClr val="374151"/>
                </a:solidFill>
                <a:latin typeface="Noto Sans SC"/>
                <a:ea typeface="Noto Sans SC"/>
                <a:cs typeface="Noto Sans SC"/>
                <a:sym typeface="Noto Sans SC"/>
              </a:rPr>
              <a:t>统计分析</a:t>
            </a:r>
            <a:endParaRPr lang="en-US" sz="1200" b="0" i="0" u="none" strike="noStrike" dirty="0">
              <a:solidFill>
                <a:srgbClr val="4B5563"/>
              </a:solidFill>
              <a:latin typeface="Noto Sans SC"/>
              <a:ea typeface="Noto Sans SC"/>
              <a:cs typeface="Noto Sans SC"/>
              <a:sym typeface="Noto Sans SC"/>
            </a:endParaRPr>
          </a:p>
        </p:txBody>
      </p:sp>
      <p:sp>
        <p:nvSpPr>
          <p:cNvPr id="8" name="AutoShape 8"/>
          <p:cNvSpPr/>
          <p:nvPr/>
        </p:nvSpPr>
        <p:spPr>
          <a:xfrm>
            <a:off x="3556000" y="1778000"/>
            <a:ext cx="2667000" cy="4318000"/>
          </a:xfrm>
          <a:prstGeom prst="roundRect">
            <a:avLst>
              <a:gd name="adj" fmla="val 5714"/>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3556000" y="1778000"/>
            <a:ext cx="2667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3810000" y="2286000"/>
            <a:ext cx="457200" cy="457200"/>
          </a:xfrm>
          <a:prstGeom prst="rect">
            <a:avLst/>
          </a:prstGeom>
        </p:spPr>
      </p:pic>
      <p:sp>
        <p:nvSpPr>
          <p:cNvPr id="11" name="AutoShape 11"/>
          <p:cNvSpPr/>
          <p:nvPr/>
        </p:nvSpPr>
        <p:spPr>
          <a:xfrm>
            <a:off x="4445000" y="2286000"/>
            <a:ext cx="1651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F2937"/>
                </a:solidFill>
                <a:latin typeface="Noto Sans SC"/>
                <a:ea typeface="Noto Sans SC"/>
                <a:cs typeface="Noto Sans SC"/>
                <a:sym typeface="Noto Sans SC"/>
              </a:rPr>
              <a:t>提交材料</a:t>
            </a:r>
            <a:endParaRPr lang="en-US" sz="1100"/>
          </a:p>
        </p:txBody>
      </p:sp>
      <p:sp>
        <p:nvSpPr>
          <p:cNvPr id="12" name="AutoShape 12"/>
          <p:cNvSpPr/>
          <p:nvPr/>
        </p:nvSpPr>
        <p:spPr>
          <a:xfrm>
            <a:off x="3683000" y="3302000"/>
            <a:ext cx="2413000" cy="2286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16666"/>
              </a:lnSpc>
              <a:defRPr/>
            </a:pPr>
            <a:r>
              <a:rPr lang="en-US" sz="1200" b="0" i="0" u="none" strike="noStrike" dirty="0" err="1">
                <a:solidFill>
                  <a:srgbClr val="6B7280"/>
                </a:solidFill>
                <a:latin typeface="Noto Sans SC"/>
                <a:ea typeface="Noto Sans SC"/>
                <a:cs typeface="Noto Sans SC"/>
                <a:sym typeface="Noto Sans SC"/>
              </a:rPr>
              <a:t>与任务一要求一致，</a:t>
            </a:r>
            <a:r>
              <a:rPr lang="en-US" sz="1200" b="0" i="0" u="none" strike="noStrike" dirty="0" err="1" smtClean="0">
                <a:solidFill>
                  <a:srgbClr val="6B7280"/>
                </a:solidFill>
                <a:latin typeface="Noto Sans SC"/>
                <a:ea typeface="Noto Sans SC"/>
                <a:cs typeface="Noto Sans SC"/>
                <a:sym typeface="Noto Sans SC"/>
              </a:rPr>
              <a:t>确保评估标准统一</a:t>
            </a:r>
            <a:endParaRPr lang="en-US" sz="1200" b="0" i="0" u="none" strike="noStrike" dirty="0">
              <a:solidFill>
                <a:srgbClr val="4B5563"/>
              </a:solidFill>
              <a:latin typeface="Noto Sans SC"/>
              <a:ea typeface="Noto Sans SC"/>
              <a:cs typeface="Noto Sans SC"/>
              <a:sym typeface="Noto Sans SC"/>
            </a:endParaRPr>
          </a:p>
        </p:txBody>
      </p:sp>
      <p:sp>
        <p:nvSpPr>
          <p:cNvPr id="13" name="AutoShape 13"/>
          <p:cNvSpPr/>
          <p:nvPr/>
        </p:nvSpPr>
        <p:spPr>
          <a:xfrm>
            <a:off x="6350000" y="1778000"/>
            <a:ext cx="2667000" cy="4318000"/>
          </a:xfrm>
          <a:prstGeom prst="roundRect">
            <a:avLst>
              <a:gd name="adj" fmla="val 5714"/>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6350000" y="1778000"/>
            <a:ext cx="2667000" cy="762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6604000" y="2286000"/>
            <a:ext cx="457200" cy="457200"/>
          </a:xfrm>
          <a:prstGeom prst="rect">
            <a:avLst/>
          </a:prstGeom>
        </p:spPr>
      </p:pic>
      <p:sp>
        <p:nvSpPr>
          <p:cNvPr id="16" name="AutoShape 16"/>
          <p:cNvSpPr/>
          <p:nvPr/>
        </p:nvSpPr>
        <p:spPr>
          <a:xfrm>
            <a:off x="7239000" y="2286000"/>
            <a:ext cx="1651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F2937"/>
                </a:solidFill>
                <a:latin typeface="Noto Sans SC"/>
                <a:ea typeface="Noto Sans SC"/>
                <a:cs typeface="Noto Sans SC"/>
                <a:sym typeface="Noto Sans SC"/>
              </a:rPr>
              <a:t>验收标准</a:t>
            </a:r>
            <a:endParaRPr lang="en-US" sz="1100"/>
          </a:p>
        </p:txBody>
      </p:sp>
      <p:sp>
        <p:nvSpPr>
          <p:cNvPr id="17" name="AutoShape 17"/>
          <p:cNvSpPr/>
          <p:nvPr/>
        </p:nvSpPr>
        <p:spPr>
          <a:xfrm>
            <a:off x="6477000" y="3302000"/>
            <a:ext cx="2413000" cy="2286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33333"/>
              </a:lnSpc>
              <a:defRPr/>
            </a:pPr>
            <a:r>
              <a:rPr lang="en-US" sz="1200" b="0" i="0" u="none" strike="noStrike" dirty="0">
                <a:solidFill>
                  <a:srgbClr val="374151"/>
                </a:solidFill>
                <a:latin typeface="Noto Sans SC"/>
                <a:ea typeface="Noto Sans SC"/>
                <a:cs typeface="Noto Sans SC"/>
                <a:sym typeface="Noto Sans SC"/>
              </a:rPr>
              <a:t>•</a:t>
            </a:r>
            <a:r>
              <a:rPr lang="en-US" sz="1200" b="1" i="0" u="none" strike="noStrike" dirty="0" err="1">
                <a:solidFill>
                  <a:srgbClr val="374151"/>
                </a:solidFill>
                <a:latin typeface="Noto Sans SC"/>
                <a:ea typeface="Noto Sans SC"/>
                <a:cs typeface="Noto Sans SC"/>
                <a:sym typeface="Noto Sans SC"/>
              </a:rPr>
              <a:t>功能完整性：</a:t>
            </a:r>
            <a:r>
              <a:rPr lang="en-US" sz="1200" b="0" i="0" u="none" strike="noStrike" dirty="0" err="1">
                <a:solidFill>
                  <a:srgbClr val="374151"/>
                </a:solidFill>
                <a:latin typeface="Noto Sans SC"/>
                <a:ea typeface="Noto Sans SC"/>
                <a:cs typeface="Noto Sans SC"/>
                <a:sym typeface="Noto Sans SC"/>
              </a:rPr>
              <a:t>规划模块是否正常运行</a:t>
            </a:r>
            <a:r>
              <a:rPr lang="en-US" sz="1200" b="0" i="0" u="none" strike="noStrike" dirty="0">
                <a:solidFill>
                  <a:srgbClr val="374151"/>
                </a:solidFill>
                <a:latin typeface="Noto Sans SC"/>
                <a:ea typeface="Noto Sans SC"/>
                <a:cs typeface="Noto Sans SC"/>
                <a:sym typeface="Noto Sans SC"/>
              </a:rPr>
              <a:t>。</a:t>
            </a:r>
            <a:endParaRPr lang="en-US" sz="1100" dirty="0"/>
          </a:p>
          <a:p>
            <a:pPr indent="0" algn="l">
              <a:lnSpc>
                <a:spcPct val="133333"/>
              </a:lnSpc>
            </a:pPr>
            <a:r>
              <a:rPr lang="en-US" sz="1200" b="0" i="0" u="none" strike="noStrike" dirty="0">
                <a:solidFill>
                  <a:srgbClr val="374151"/>
                </a:solidFill>
                <a:latin typeface="Noto Sans SC"/>
                <a:ea typeface="Noto Sans SC"/>
                <a:cs typeface="Noto Sans SC"/>
                <a:sym typeface="Noto Sans SC"/>
              </a:rPr>
              <a:t>•</a:t>
            </a:r>
            <a:r>
              <a:rPr lang="en-US" sz="1200" b="1" i="0" u="none" strike="noStrike" dirty="0" err="1">
                <a:solidFill>
                  <a:srgbClr val="374151"/>
                </a:solidFill>
                <a:latin typeface="Noto Sans SC"/>
                <a:ea typeface="Noto Sans SC"/>
                <a:cs typeface="Noto Sans SC"/>
                <a:sym typeface="Noto Sans SC"/>
              </a:rPr>
              <a:t>模型合理性：</a:t>
            </a:r>
            <a:r>
              <a:rPr lang="en-US" sz="1200" b="0" i="0" u="none" strike="noStrike" dirty="0" err="1">
                <a:solidFill>
                  <a:srgbClr val="374151"/>
                </a:solidFill>
                <a:latin typeface="Noto Sans SC"/>
                <a:ea typeface="Noto Sans SC"/>
                <a:cs typeface="Noto Sans SC"/>
                <a:sym typeface="Noto Sans SC"/>
              </a:rPr>
              <a:t>代理类设计是否体现优势</a:t>
            </a:r>
            <a:r>
              <a:rPr lang="en-US" sz="1200" b="0" i="0" u="none" strike="noStrike" dirty="0">
                <a:solidFill>
                  <a:srgbClr val="374151"/>
                </a:solidFill>
                <a:latin typeface="Noto Sans SC"/>
                <a:ea typeface="Noto Sans SC"/>
                <a:cs typeface="Noto Sans SC"/>
                <a:sym typeface="Noto Sans SC"/>
              </a:rPr>
              <a:t>。</a:t>
            </a:r>
          </a:p>
          <a:p>
            <a:pPr indent="0" algn="l">
              <a:lnSpc>
                <a:spcPct val="133333"/>
              </a:lnSpc>
            </a:pPr>
            <a:r>
              <a:rPr lang="en-US" sz="1200" b="0" i="0" u="none" strike="noStrike" dirty="0">
                <a:solidFill>
                  <a:srgbClr val="374151"/>
                </a:solidFill>
                <a:latin typeface="Noto Sans SC"/>
                <a:ea typeface="Noto Sans SC"/>
                <a:cs typeface="Noto Sans SC"/>
                <a:sym typeface="Noto Sans SC"/>
              </a:rPr>
              <a:t>•</a:t>
            </a:r>
            <a:r>
              <a:rPr lang="en-US" sz="1200" b="1" i="0" u="none" strike="noStrike" dirty="0" err="1">
                <a:solidFill>
                  <a:srgbClr val="374151"/>
                </a:solidFill>
                <a:latin typeface="Noto Sans SC"/>
                <a:ea typeface="Noto Sans SC"/>
                <a:cs typeface="Noto Sans SC"/>
                <a:sym typeface="Noto Sans SC"/>
              </a:rPr>
              <a:t>代码质量：</a:t>
            </a:r>
            <a:r>
              <a:rPr lang="en-US" sz="1200" b="0" i="0" u="none" strike="noStrike" dirty="0" err="1">
                <a:solidFill>
                  <a:srgbClr val="374151"/>
                </a:solidFill>
                <a:latin typeface="Noto Sans SC"/>
                <a:ea typeface="Noto Sans SC"/>
                <a:cs typeface="Noto Sans SC"/>
                <a:sym typeface="Noto Sans SC"/>
              </a:rPr>
              <a:t>代码是否清晰、规范、易维护</a:t>
            </a:r>
            <a:r>
              <a:rPr lang="en-US" sz="1200" b="0" i="0" u="none" strike="noStrike" dirty="0">
                <a:solidFill>
                  <a:srgbClr val="374151"/>
                </a:solidFill>
                <a:latin typeface="Noto Sans SC"/>
                <a:ea typeface="Noto Sans SC"/>
                <a:cs typeface="Noto Sans SC"/>
                <a:sym typeface="Noto Sans SC"/>
              </a:rPr>
              <a:t>。</a:t>
            </a:r>
          </a:p>
        </p:txBody>
      </p:sp>
      <p:sp>
        <p:nvSpPr>
          <p:cNvPr id="18" name="AutoShape 18"/>
          <p:cNvSpPr/>
          <p:nvPr/>
        </p:nvSpPr>
        <p:spPr>
          <a:xfrm>
            <a:off x="9144000" y="1778000"/>
            <a:ext cx="2667000" cy="4318000"/>
          </a:xfrm>
          <a:prstGeom prst="roundRect">
            <a:avLst>
              <a:gd name="adj" fmla="val 5714"/>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9" name="AutoShape 19"/>
          <p:cNvSpPr/>
          <p:nvPr/>
        </p:nvSpPr>
        <p:spPr>
          <a:xfrm>
            <a:off x="9144000" y="1778000"/>
            <a:ext cx="2667000" cy="76200"/>
          </a:xfrm>
          <a:prstGeom prst="roundRect">
            <a:avLst>
              <a:gd name="adj" fmla="val 0"/>
            </a:avLst>
          </a:prstGeom>
          <a:solidFill>
            <a:srgbClr val="EC48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9398000" y="2286000"/>
            <a:ext cx="457200" cy="457200"/>
          </a:xfrm>
          <a:prstGeom prst="rect">
            <a:avLst/>
          </a:prstGeom>
        </p:spPr>
      </p:pic>
      <p:sp>
        <p:nvSpPr>
          <p:cNvPr id="21" name="AutoShape 21"/>
          <p:cNvSpPr/>
          <p:nvPr/>
        </p:nvSpPr>
        <p:spPr>
          <a:xfrm>
            <a:off x="10033000" y="2286000"/>
            <a:ext cx="1651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1F2937"/>
                </a:solidFill>
                <a:latin typeface="Noto Sans SC"/>
                <a:ea typeface="Noto Sans SC"/>
                <a:cs typeface="Noto Sans SC"/>
                <a:sym typeface="Noto Sans SC"/>
              </a:rPr>
              <a:t>创新点评估</a:t>
            </a:r>
            <a:endParaRPr lang="en-US" sz="1100"/>
          </a:p>
        </p:txBody>
      </p:sp>
      <p:sp>
        <p:nvSpPr>
          <p:cNvPr id="22" name="AutoShape 22"/>
          <p:cNvSpPr/>
          <p:nvPr/>
        </p:nvSpPr>
        <p:spPr>
          <a:xfrm>
            <a:off x="9271000" y="3429000"/>
            <a:ext cx="2413000" cy="203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dirty="0" err="1">
                <a:solidFill>
                  <a:srgbClr val="4B5563"/>
                </a:solidFill>
                <a:latin typeface="Noto Sans SC"/>
                <a:ea typeface="Noto Sans SC"/>
                <a:cs typeface="Noto Sans SC"/>
                <a:sym typeface="Noto Sans SC"/>
              </a:rPr>
              <a:t>重点评估代理模型在处理家族树这类</a:t>
            </a:r>
            <a:r>
              <a:rPr lang="en-US" sz="1300" b="1" i="0" u="none" strike="noStrike" dirty="0" err="1">
                <a:solidFill>
                  <a:srgbClr val="4B5563"/>
                </a:solidFill>
                <a:latin typeface="Noto Sans SC"/>
                <a:ea typeface="Noto Sans SC"/>
                <a:cs typeface="Noto Sans SC"/>
                <a:sym typeface="Noto Sans SC"/>
              </a:rPr>
              <a:t>复杂层级数据</a:t>
            </a:r>
            <a:r>
              <a:rPr lang="en-US" sz="1300" b="0" i="0" u="none" strike="noStrike" dirty="0" err="1">
                <a:solidFill>
                  <a:srgbClr val="4B5563"/>
                </a:solidFill>
                <a:latin typeface="Noto Sans SC"/>
                <a:ea typeface="Noto Sans SC"/>
                <a:cs typeface="Noto Sans SC"/>
                <a:sym typeface="Noto Sans SC"/>
              </a:rPr>
              <a:t>建模时的表现，以及在简化开发流程和优化数据结构方面的</a:t>
            </a:r>
            <a:r>
              <a:rPr lang="en-US" sz="1300" b="1" i="0" u="none" strike="noStrike" dirty="0" err="1">
                <a:solidFill>
                  <a:srgbClr val="4B5563"/>
                </a:solidFill>
                <a:latin typeface="Noto Sans SC"/>
                <a:ea typeface="Noto Sans SC"/>
                <a:cs typeface="Noto Sans SC"/>
                <a:sym typeface="Noto Sans SC"/>
              </a:rPr>
              <a:t>实际创新价值</a:t>
            </a:r>
            <a:r>
              <a:rPr lang="en-US" sz="1300" b="0" i="0" u="none" strike="noStrike" dirty="0">
                <a:solidFill>
                  <a:srgbClr val="4B5563"/>
                </a:solidFill>
                <a:latin typeface="Noto Sans SC"/>
                <a:ea typeface="Noto Sans SC"/>
                <a:cs typeface="Noto Sans SC"/>
                <a:sym typeface="Noto Sans SC"/>
              </a:rPr>
              <a:t>。</a:t>
            </a:r>
            <a:endParaRPr lang="en-US" sz="1100" dirty="0"/>
          </a:p>
        </p:txBody>
      </p:sp>
    </p:spTree>
    <p:extLst>
      <p:ext uri="{BB962C8B-B14F-4D97-AF65-F5344CB8AC3E}">
        <p14:creationId xmlns:p14="http://schemas.microsoft.com/office/powerpoint/2010/main" val="2809271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smtClean="0">
                <a:solidFill>
                  <a:srgbClr val="1F2937"/>
                </a:solidFill>
                <a:latin typeface="Noto Sans SC"/>
                <a:ea typeface="Noto Sans SC"/>
                <a:cs typeface="Noto Sans SC"/>
                <a:sym typeface="Noto Sans SC"/>
              </a:rPr>
              <a:t>学习收获与总结</a:t>
            </a:r>
            <a:endParaRPr lang="en-US" sz="1100" dirty="0"/>
          </a:p>
        </p:txBody>
      </p:sp>
      <p:sp>
        <p:nvSpPr>
          <p:cNvPr id="4" name="AutoShape 4"/>
          <p:cNvSpPr/>
          <p:nvPr/>
        </p:nvSpPr>
        <p:spPr>
          <a:xfrm>
            <a:off x="762000" y="1778000"/>
            <a:ext cx="2540000" cy="4318000"/>
          </a:xfrm>
          <a:prstGeom prst="roundRect">
            <a:avLst>
              <a:gd name="adj" fmla="val 6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778000"/>
            <a:ext cx="25400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016000" y="2286000"/>
            <a:ext cx="508000" cy="508000"/>
          </a:xfrm>
          <a:prstGeom prst="rect">
            <a:avLst/>
          </a:prstGeom>
        </p:spPr>
      </p:pic>
      <p:sp>
        <p:nvSpPr>
          <p:cNvPr id="7" name="AutoShape 7"/>
          <p:cNvSpPr/>
          <p:nvPr/>
        </p:nvSpPr>
        <p:spPr>
          <a:xfrm>
            <a:off x="889000" y="3175000"/>
            <a:ext cx="2286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F2937"/>
                </a:solidFill>
                <a:latin typeface="Noto Sans SC"/>
                <a:ea typeface="Noto Sans SC"/>
                <a:cs typeface="Noto Sans SC"/>
                <a:sym typeface="Noto Sans SC"/>
              </a:rPr>
              <a:t>掌握Totem数据库使用</a:t>
            </a:r>
            <a:endParaRPr lang="en-US" sz="1100"/>
          </a:p>
        </p:txBody>
      </p:sp>
      <p:sp>
        <p:nvSpPr>
          <p:cNvPr id="8" name="AutoShape 8"/>
          <p:cNvSpPr/>
          <p:nvPr/>
        </p:nvSpPr>
        <p:spPr>
          <a:xfrm>
            <a:off x="889000" y="4191000"/>
            <a:ext cx="2286000" cy="1778000"/>
          </a:xfrm>
          <a:prstGeom prst="roundRect">
            <a:avLst>
              <a:gd name="adj" fmla="val 0"/>
            </a:avLst>
          </a:prstGeom>
          <a:noFill/>
          <a:ln w="25400" cap="flat" cmpd="sng">
            <a:noFill/>
            <a:prstDash val="solid"/>
            <a:round/>
          </a:ln>
        </p:spPr>
        <p:txBody>
          <a:bodyPr vert="horz" wrap="square" lIns="0" tIns="0" rIns="0" bIns="0" rtlCol="0" anchor="ctr" anchorCtr="0"/>
          <a:lstStyle/>
          <a:p>
            <a:pPr indent="0" algn="just">
              <a:lnSpc>
                <a:spcPct val="116666"/>
              </a:lnSpc>
              <a:defRPr/>
            </a:pPr>
            <a:r>
              <a:rPr lang="en-US" sz="1300" b="0" i="0" u="none" strike="noStrike">
                <a:solidFill>
                  <a:srgbClr val="4B5563"/>
                </a:solidFill>
                <a:latin typeface="Noto Sans SC"/>
                <a:ea typeface="Noto Sans SC"/>
                <a:cs typeface="Noto Sans SC"/>
                <a:sym typeface="Noto Sans SC"/>
              </a:rPr>
              <a:t>通过本次实验，我们不仅学会了如何安装和配置Totem数据库，更重要的是掌握了其核心的对象代理模型的设计理念和使用方法。</a:t>
            </a:r>
            <a:endParaRPr lang="en-US" sz="1100"/>
          </a:p>
        </p:txBody>
      </p:sp>
      <p:sp>
        <p:nvSpPr>
          <p:cNvPr id="9" name="AutoShape 9"/>
          <p:cNvSpPr/>
          <p:nvPr/>
        </p:nvSpPr>
        <p:spPr>
          <a:xfrm>
            <a:off x="3467100" y="1778000"/>
            <a:ext cx="2540000" cy="4318000"/>
          </a:xfrm>
          <a:prstGeom prst="roundRect">
            <a:avLst>
              <a:gd name="adj" fmla="val 6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3467100" y="1778000"/>
            <a:ext cx="25400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3721100" y="2286000"/>
            <a:ext cx="508000" cy="508000"/>
          </a:xfrm>
          <a:prstGeom prst="rect">
            <a:avLst/>
          </a:prstGeom>
        </p:spPr>
      </p:pic>
      <p:sp>
        <p:nvSpPr>
          <p:cNvPr id="12" name="AutoShape 12"/>
          <p:cNvSpPr/>
          <p:nvPr/>
        </p:nvSpPr>
        <p:spPr>
          <a:xfrm>
            <a:off x="3594100" y="3175000"/>
            <a:ext cx="2286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F2937"/>
                </a:solidFill>
                <a:latin typeface="Noto Sans SC"/>
                <a:ea typeface="Noto Sans SC"/>
                <a:cs typeface="Noto Sans SC"/>
                <a:sym typeface="Noto Sans SC"/>
              </a:rPr>
              <a:t>理解设计差异</a:t>
            </a:r>
            <a:endParaRPr lang="en-US" sz="1100"/>
          </a:p>
        </p:txBody>
      </p:sp>
      <p:sp>
        <p:nvSpPr>
          <p:cNvPr id="13" name="AutoShape 13"/>
          <p:cNvSpPr/>
          <p:nvPr/>
        </p:nvSpPr>
        <p:spPr>
          <a:xfrm>
            <a:off x="3594100" y="4191000"/>
            <a:ext cx="2286000" cy="1778000"/>
          </a:xfrm>
          <a:prstGeom prst="roundRect">
            <a:avLst>
              <a:gd name="adj" fmla="val 0"/>
            </a:avLst>
          </a:prstGeom>
          <a:noFill/>
          <a:ln w="25400" cap="flat" cmpd="sng">
            <a:noFill/>
            <a:prstDash val="solid"/>
            <a:round/>
          </a:ln>
        </p:spPr>
        <p:txBody>
          <a:bodyPr vert="horz" wrap="square" lIns="0" tIns="0" rIns="0" bIns="0" rtlCol="0" anchor="ctr" anchorCtr="0"/>
          <a:lstStyle/>
          <a:p>
            <a:pPr indent="0" algn="just">
              <a:lnSpc>
                <a:spcPct val="116666"/>
              </a:lnSpc>
              <a:defRPr/>
            </a:pPr>
            <a:r>
              <a:rPr lang="en-US" sz="1300" b="0" i="0" u="none" strike="noStrike">
                <a:solidFill>
                  <a:srgbClr val="4B5563"/>
                </a:solidFill>
                <a:latin typeface="Noto Sans SC"/>
                <a:ea typeface="Noto Sans SC"/>
                <a:cs typeface="Noto Sans SC"/>
                <a:sym typeface="Noto Sans SC"/>
              </a:rPr>
              <a:t>我们深入理解了代理类与传统关系表在设计哲学上的根本差异。代理类更侧重于数据的逻辑关系和业务语义，而非物理存储结构。</a:t>
            </a:r>
            <a:endParaRPr lang="en-US" sz="1100"/>
          </a:p>
        </p:txBody>
      </p:sp>
      <p:sp>
        <p:nvSpPr>
          <p:cNvPr id="14" name="AutoShape 14"/>
          <p:cNvSpPr/>
          <p:nvPr/>
        </p:nvSpPr>
        <p:spPr>
          <a:xfrm>
            <a:off x="6172200" y="1778000"/>
            <a:ext cx="2540000" cy="4318000"/>
          </a:xfrm>
          <a:prstGeom prst="roundRect">
            <a:avLst>
              <a:gd name="adj" fmla="val 6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6172200" y="1778000"/>
            <a:ext cx="25400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6426200" y="2286000"/>
            <a:ext cx="508000" cy="508000"/>
          </a:xfrm>
          <a:prstGeom prst="rect">
            <a:avLst/>
          </a:prstGeom>
        </p:spPr>
      </p:pic>
      <p:sp>
        <p:nvSpPr>
          <p:cNvPr id="17" name="AutoShape 17"/>
          <p:cNvSpPr/>
          <p:nvPr/>
        </p:nvSpPr>
        <p:spPr>
          <a:xfrm>
            <a:off x="6299200" y="3175000"/>
            <a:ext cx="2286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F2937"/>
                </a:solidFill>
                <a:latin typeface="Noto Sans SC"/>
                <a:ea typeface="Noto Sans SC"/>
                <a:cs typeface="Noto Sans SC"/>
                <a:sym typeface="Noto Sans SC"/>
              </a:rPr>
              <a:t>体会模型优势</a:t>
            </a:r>
            <a:endParaRPr lang="en-US" sz="1100"/>
          </a:p>
        </p:txBody>
      </p:sp>
      <p:sp>
        <p:nvSpPr>
          <p:cNvPr id="18" name="AutoShape 18"/>
          <p:cNvSpPr/>
          <p:nvPr/>
        </p:nvSpPr>
        <p:spPr>
          <a:xfrm>
            <a:off x="6299200" y="4191000"/>
            <a:ext cx="2286000" cy="1778000"/>
          </a:xfrm>
          <a:prstGeom prst="roundRect">
            <a:avLst>
              <a:gd name="adj" fmla="val 0"/>
            </a:avLst>
          </a:prstGeom>
          <a:noFill/>
          <a:ln w="25400" cap="flat" cmpd="sng">
            <a:noFill/>
            <a:prstDash val="solid"/>
            <a:round/>
          </a:ln>
        </p:spPr>
        <p:txBody>
          <a:bodyPr vert="horz" wrap="square" lIns="0" tIns="0" rIns="0" bIns="0" rtlCol="0" anchor="ctr" anchorCtr="0"/>
          <a:lstStyle/>
          <a:p>
            <a:pPr indent="0" algn="just">
              <a:lnSpc>
                <a:spcPct val="116666"/>
              </a:lnSpc>
              <a:defRPr/>
            </a:pPr>
            <a:r>
              <a:rPr lang="en-US" sz="1300" b="0" i="0" u="none" strike="noStrike">
                <a:solidFill>
                  <a:srgbClr val="4B5563"/>
                </a:solidFill>
                <a:latin typeface="Noto Sans SC"/>
                <a:ea typeface="Noto Sans SC"/>
                <a:cs typeface="Noto Sans SC"/>
                <a:sym typeface="Noto Sans SC"/>
              </a:rPr>
              <a:t>我们亲身体会到了代理模型在处理层级数据（如族谱）、角色化查询（如父亲/母亲）和动态视图（如祖先链）等场景下的显著优势，它让复杂问题变得简单。</a:t>
            </a:r>
            <a:endParaRPr lang="en-US" sz="1100"/>
          </a:p>
        </p:txBody>
      </p:sp>
      <p:sp>
        <p:nvSpPr>
          <p:cNvPr id="19" name="AutoShape 19"/>
          <p:cNvSpPr/>
          <p:nvPr/>
        </p:nvSpPr>
        <p:spPr>
          <a:xfrm>
            <a:off x="8877300" y="1778000"/>
            <a:ext cx="2540000" cy="4318000"/>
          </a:xfrm>
          <a:prstGeom prst="roundRect">
            <a:avLst>
              <a:gd name="adj" fmla="val 6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8877300" y="1778000"/>
            <a:ext cx="25400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9131300" y="2286000"/>
            <a:ext cx="508000" cy="508000"/>
          </a:xfrm>
          <a:prstGeom prst="rect">
            <a:avLst/>
          </a:prstGeom>
        </p:spPr>
      </p:pic>
      <p:sp>
        <p:nvSpPr>
          <p:cNvPr id="22" name="AutoShape 22"/>
          <p:cNvSpPr/>
          <p:nvPr/>
        </p:nvSpPr>
        <p:spPr>
          <a:xfrm>
            <a:off x="9004300" y="3175000"/>
            <a:ext cx="2286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F2937"/>
                </a:solidFill>
                <a:latin typeface="Noto Sans SC"/>
                <a:ea typeface="Noto Sans SC"/>
                <a:cs typeface="Noto Sans SC"/>
                <a:sym typeface="Noto Sans SC"/>
              </a:rPr>
              <a:t>展望未来应用</a:t>
            </a:r>
            <a:endParaRPr lang="en-US" sz="1100"/>
          </a:p>
        </p:txBody>
      </p:sp>
      <p:sp>
        <p:nvSpPr>
          <p:cNvPr id="23" name="AutoShape 23"/>
          <p:cNvSpPr/>
          <p:nvPr/>
        </p:nvSpPr>
        <p:spPr>
          <a:xfrm>
            <a:off x="9004300" y="4191000"/>
            <a:ext cx="2286000" cy="1778000"/>
          </a:xfrm>
          <a:prstGeom prst="roundRect">
            <a:avLst>
              <a:gd name="adj" fmla="val 0"/>
            </a:avLst>
          </a:prstGeom>
          <a:noFill/>
          <a:ln w="25400" cap="flat" cmpd="sng">
            <a:noFill/>
            <a:prstDash val="solid"/>
            <a:round/>
          </a:ln>
        </p:spPr>
        <p:txBody>
          <a:bodyPr vert="horz" wrap="square" lIns="0" tIns="0" rIns="0" bIns="0" rtlCol="0" anchor="ctr" anchorCtr="0"/>
          <a:lstStyle/>
          <a:p>
            <a:pPr indent="0" algn="just">
              <a:lnSpc>
                <a:spcPct val="116666"/>
              </a:lnSpc>
              <a:defRPr/>
            </a:pPr>
            <a:r>
              <a:rPr lang="en-US" sz="1300" b="0" i="0" u="none" strike="noStrike">
                <a:solidFill>
                  <a:srgbClr val="4B5563"/>
                </a:solidFill>
                <a:latin typeface="Noto Sans SC"/>
                <a:ea typeface="Noto Sans SC"/>
                <a:cs typeface="Noto Sans SC"/>
                <a:sym typeface="Noto Sans SC"/>
              </a:rPr>
              <a:t>这次实验为我们打开了一扇新的大门，展示了在处理复杂关联数据时，对象代理模型作为关系模型的有力补充，拥有广阔的应用前景。</a:t>
            </a:r>
            <a:endParaRPr lang="en-US" sz="1100"/>
          </a:p>
        </p:txBody>
      </p:sp>
      <p:pic>
        <p:nvPicPr>
          <p:cNvPr id="24" name="Picture 24"/>
          <p:cNvPicPr>
            <a:picLocks noChangeAspect="1"/>
          </p:cNvPicPr>
          <p:nvPr/>
        </p:nvPicPr>
        <p:blipFill>
          <a:blip r:embed="rId12"/>
          <a:stretch>
            <a:fillRect/>
          </a:stretch>
        </p:blipFill>
        <p:spPr>
          <a:xfrm>
            <a:off x="10668000" y="6190112"/>
            <a:ext cx="1524000" cy="667888"/>
          </a:xfrm>
          <a:prstGeom prst="rect">
            <a:avLst/>
          </a:prstGeom>
        </p:spPr>
      </p:pic>
    </p:spTree>
    <p:extLst>
      <p:ext uri="{BB962C8B-B14F-4D97-AF65-F5344CB8AC3E}">
        <p14:creationId xmlns:p14="http://schemas.microsoft.com/office/powerpoint/2010/main" val="1496047118"/>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2532</TotalTime>
  <Words>1039</Words>
  <Application>Microsoft Office PowerPoint</Application>
  <PresentationFormat>宽屏</PresentationFormat>
  <Paragraphs>136</Paragraphs>
  <Slides>10</Slides>
  <Notes>10</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10</vt:i4>
      </vt:variant>
    </vt:vector>
  </HeadingPairs>
  <TitlesOfParts>
    <vt:vector size="16" baseType="lpstr">
      <vt:lpstr>Noto Sans SC</vt:lpstr>
      <vt:lpstr>微软雅黑</vt:lpstr>
      <vt:lpstr>Arial</vt:lpstr>
      <vt:lpstr>Consolas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tommy</dc:creator>
  <cp:lastModifiedBy>tommy</cp:lastModifiedBy>
  <cp:revision>13</cp:revision>
  <dcterms:modified xsi:type="dcterms:W3CDTF">2026-05-13T16:44:45Z</dcterms:modified>
</cp:coreProperties>
</file>